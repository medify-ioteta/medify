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6"/>
  </p:notesMasterIdLst>
  <p:sldIdLst>
    <p:sldId id="256" r:id="rId3"/>
    <p:sldId id="257" r:id="rId4"/>
    <p:sldId id="270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5657A"/>
    <a:srgbClr val="AABBCC"/>
    <a:srgbClr val="FFFFFF"/>
    <a:srgbClr val="F7F7F7"/>
    <a:srgbClr val="F6F5F0"/>
    <a:srgbClr val="1E1E2E"/>
    <a:srgbClr val="F4F7FF"/>
    <a:srgbClr val="34A8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892" y="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24D94033-31C9-4B82-868A-299F73C0B28E}" type="datetimeFigureOut">
              <a:rPr lang="he-IL" smtClean="0"/>
              <a:t>ט"ז/סיון/תשפ"ו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331BBB24-0A24-42C6-879D-28B0A279BA7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14906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1BBB24-0A24-42C6-879D-28B0A279BA7A}" type="slidenum">
              <a:rPr lang="he-IL" smtClean="0"/>
              <a:t>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705527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1BBB24-0A24-42C6-879D-28B0A279BA7A}" type="slidenum">
              <a:rPr lang="he-IL" smtClean="0"/>
              <a:t>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96381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>
            <a:extLst>
              <a:ext uri="{FF2B5EF4-FFF2-40B4-BE49-F238E27FC236}">
                <a16:creationId xmlns:a16="http://schemas.microsoft.com/office/drawing/2014/main" id="{C4802ECC-8E46-5B90-6B4A-7D6CD9E511D3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CAF4658D-EDDF-4E11-5E64-5469B9DE49AD}"/>
              </a:ext>
            </a:extLst>
          </p:cNvPr>
          <p:cNvSpPr/>
          <p:nvPr userDrawn="1"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A41616AB-1036-DC07-4FA4-A1DE74BBC9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72070" y1="52930" x2="72070" y2="52930"/>
                        <a14:foregroundMark x1="67383" y1="45410" x2="67383" y2="45410"/>
                        <a14:foregroundMark x1="63932" y1="43262" x2="63932" y2="43262"/>
                        <a14:foregroundMark x1="63932" y1="48242" x2="63932" y2="48242"/>
                        <a14:foregroundMark x1="61523" y1="47070" x2="61523" y2="47070"/>
                        <a14:foregroundMark x1="54492" y1="47754" x2="54492" y2="47754"/>
                        <a14:foregroundMark x1="44727" y1="48926" x2="44727" y2="48926"/>
                        <a14:foregroundMark x1="33659" y1="38477" x2="33659" y2="38477"/>
                        <a14:foregroundMark x1="29688" y1="39160" x2="29688" y2="39160"/>
                        <a14:foregroundMark x1="29036" y1="43555" x2="29036" y2="43555"/>
                        <a14:backgroundMark x1="52799" y1="49609" x2="52799" y2="49609"/>
                      </a14:backgroundRemoval>
                    </a14:imgEffect>
                  </a14:imgLayer>
                </a14:imgProps>
              </a:ext>
            </a:extLst>
          </a:blip>
          <a:srcRect l="14025" t="26475" r="17256" b="34969"/>
          <a:stretch>
            <a:fillRect/>
          </a:stretch>
        </p:blipFill>
        <p:spPr>
          <a:xfrm>
            <a:off x="10308785" y="216871"/>
            <a:ext cx="1880040" cy="703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11356FB-3449-C087-CB48-12612347E7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0825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E55AB349-E727-D9EE-8E15-B961FD0700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0825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2AC221D-9344-CCA6-3A67-A9D52DDAC8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9013" y="6356350"/>
            <a:ext cx="2741612" cy="365125"/>
          </a:xfrm>
          <a:prstGeom prst="rect">
            <a:avLst/>
          </a:prstGeom>
        </p:spPr>
        <p:txBody>
          <a:bodyPr/>
          <a:lstStyle/>
          <a:p>
            <a:fld id="{D4CFDC03-01ED-48F9-9EB6-D7E3CA119FD4}" type="datetimeFigureOut">
              <a:rPr lang="he-IL" smtClean="0"/>
              <a:t>ט"ז/סיון/תשפ"ו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E715F6A-65AB-0241-1E08-54E9D2FFB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13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40C37EE-70C7-6A61-F201-78A2AEFE8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1613" cy="365125"/>
          </a:xfrm>
          <a:prstGeom prst="rect">
            <a:avLst/>
          </a:prstGeom>
        </p:spPr>
        <p:txBody>
          <a:bodyPr/>
          <a:lstStyle/>
          <a:p>
            <a:fld id="{FEADB6DE-5916-4824-8128-0CC2DB2F28C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39398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592A8F2-6AE2-9B3F-9082-59637A317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2425" cy="1325563"/>
          </a:xfrm>
          <a:prstGeom prst="rect">
            <a:avLst/>
          </a:prstGeo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51A6F1E-611B-26E9-3BBC-9C044FA3B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242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4FD31D6-241C-C650-3890-A8F27E3BEE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9013" y="6356350"/>
            <a:ext cx="2741612" cy="365125"/>
          </a:xfrm>
          <a:prstGeom prst="rect">
            <a:avLst/>
          </a:prstGeom>
        </p:spPr>
        <p:txBody>
          <a:bodyPr/>
          <a:lstStyle/>
          <a:p>
            <a:fld id="{D4CFDC03-01ED-48F9-9EB6-D7E3CA119FD4}" type="datetimeFigureOut">
              <a:rPr lang="he-IL" smtClean="0"/>
              <a:t>ט"ז/סיון/תשפ"ו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3BBFD1E-5DB8-6C1E-1F1E-E51E6084C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13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AF10B43-5956-8332-9E01-3FDE8FF97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1613" cy="365125"/>
          </a:xfrm>
          <a:prstGeom prst="rect">
            <a:avLst/>
          </a:prstGeom>
        </p:spPr>
        <p:txBody>
          <a:bodyPr/>
          <a:lstStyle/>
          <a:p>
            <a:fld id="{FEADB6DE-5916-4824-8128-0CC2DB2F28C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629484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35209AB-8657-B459-77CD-1D2EA874A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2425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3AE3A799-080B-17E7-47B2-4CCE777FDB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242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67C4764-458A-A27B-DDA3-F8D37D8753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9013" y="6356350"/>
            <a:ext cx="2741612" cy="365125"/>
          </a:xfrm>
          <a:prstGeom prst="rect">
            <a:avLst/>
          </a:prstGeom>
        </p:spPr>
        <p:txBody>
          <a:bodyPr/>
          <a:lstStyle/>
          <a:p>
            <a:fld id="{D4CFDC03-01ED-48F9-9EB6-D7E3CA119FD4}" type="datetimeFigureOut">
              <a:rPr lang="he-IL" smtClean="0"/>
              <a:t>ט"ז/סיון/תשפ"ו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2599D8B-63C9-5DFF-9F85-4E4B2AED3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13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4B81F3A-CD6C-40F0-29B6-4016C8906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1613" cy="365125"/>
          </a:xfrm>
          <a:prstGeom prst="rect">
            <a:avLst/>
          </a:prstGeom>
        </p:spPr>
        <p:txBody>
          <a:bodyPr/>
          <a:lstStyle/>
          <a:p>
            <a:fld id="{FEADB6DE-5916-4824-8128-0CC2DB2F28C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255963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B15C8B0-4682-A5F3-593F-BD3C94F55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2425" cy="1325563"/>
          </a:xfrm>
          <a:prstGeom prst="rect">
            <a:avLst/>
          </a:prstGeo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E51E8CB-FA3D-C909-1BDB-A72B72915D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0013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EB57178A-D529-981B-DD11-AD460E5F5F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0613" y="1825625"/>
            <a:ext cx="5180012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58B38CD-5A9C-1C4F-7F4B-F2593E442E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9013" y="6356350"/>
            <a:ext cx="2741612" cy="365125"/>
          </a:xfrm>
          <a:prstGeom prst="rect">
            <a:avLst/>
          </a:prstGeom>
        </p:spPr>
        <p:txBody>
          <a:bodyPr/>
          <a:lstStyle/>
          <a:p>
            <a:fld id="{D4CFDC03-01ED-48F9-9EB6-D7E3CA119FD4}" type="datetimeFigureOut">
              <a:rPr lang="he-IL" smtClean="0"/>
              <a:t>ט"ז/סיון/תשפ"ו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6066072A-70FB-A731-C058-C2865AB19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13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D10F59C7-4273-81FE-6FCB-84E16EC41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1613" cy="365125"/>
          </a:xfrm>
          <a:prstGeom prst="rect">
            <a:avLst/>
          </a:prstGeom>
        </p:spPr>
        <p:txBody>
          <a:bodyPr/>
          <a:lstStyle/>
          <a:p>
            <a:fld id="{FEADB6DE-5916-4824-8128-0CC2DB2F28C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385943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0B177AF-9567-B071-6137-105A60A9B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2425" cy="1325563"/>
          </a:xfrm>
          <a:prstGeom prst="rect">
            <a:avLst/>
          </a:prstGeo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540B28FC-E62A-41FA-750E-E758E85A8B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620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4E05E55A-7F76-81F6-9360-0E937AF843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620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85FCB60C-2480-8DDC-19B5-3CC02948F0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0613" y="1681163"/>
            <a:ext cx="518160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A301A1C5-3EA4-DE32-3127-B0F5426195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0613" y="2505075"/>
            <a:ext cx="518160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158288EE-69B9-F028-154B-2115F6069E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9013" y="6356350"/>
            <a:ext cx="2741612" cy="365125"/>
          </a:xfrm>
          <a:prstGeom prst="rect">
            <a:avLst/>
          </a:prstGeom>
        </p:spPr>
        <p:txBody>
          <a:bodyPr/>
          <a:lstStyle/>
          <a:p>
            <a:fld id="{D4CFDC03-01ED-48F9-9EB6-D7E3CA119FD4}" type="datetimeFigureOut">
              <a:rPr lang="he-IL" smtClean="0"/>
              <a:t>ט"ז/סיון/תשפ"ו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F6E07668-3814-E63D-02AF-4E5BC269A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13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5F88D0EC-1AD2-3EFA-9787-EBF512251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1613" cy="365125"/>
          </a:xfrm>
          <a:prstGeom prst="rect">
            <a:avLst/>
          </a:prstGeom>
        </p:spPr>
        <p:txBody>
          <a:bodyPr/>
          <a:lstStyle/>
          <a:p>
            <a:fld id="{FEADB6DE-5916-4824-8128-0CC2DB2F28C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985369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7BED230-B3B1-FFBC-A44B-05FAE2A9C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2425" cy="1325563"/>
          </a:xfrm>
          <a:prstGeom prst="rect">
            <a:avLst/>
          </a:prstGeo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70B22D37-9C85-0B00-0535-35994129A2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9013" y="6356350"/>
            <a:ext cx="2741612" cy="365125"/>
          </a:xfrm>
          <a:prstGeom prst="rect">
            <a:avLst/>
          </a:prstGeom>
        </p:spPr>
        <p:txBody>
          <a:bodyPr/>
          <a:lstStyle/>
          <a:p>
            <a:fld id="{D4CFDC03-01ED-48F9-9EB6-D7E3CA119FD4}" type="datetimeFigureOut">
              <a:rPr lang="he-IL" smtClean="0"/>
              <a:t>ט"ז/סיון/תשפ"ו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081DC1F2-7247-213F-BBDA-60EBE0826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13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EC9667E0-0F8F-AC99-59B9-35366A97C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1613" cy="365125"/>
          </a:xfrm>
          <a:prstGeom prst="rect">
            <a:avLst/>
          </a:prstGeom>
        </p:spPr>
        <p:txBody>
          <a:bodyPr/>
          <a:lstStyle/>
          <a:p>
            <a:fld id="{FEADB6DE-5916-4824-8128-0CC2DB2F28C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997027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6EEB8A46-649B-8872-81E6-9B85956D17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9013" y="6356350"/>
            <a:ext cx="2741612" cy="365125"/>
          </a:xfrm>
          <a:prstGeom prst="rect">
            <a:avLst/>
          </a:prstGeom>
        </p:spPr>
        <p:txBody>
          <a:bodyPr/>
          <a:lstStyle/>
          <a:p>
            <a:fld id="{D4CFDC03-01ED-48F9-9EB6-D7E3CA119FD4}" type="datetimeFigureOut">
              <a:rPr lang="he-IL" smtClean="0"/>
              <a:t>ט"ז/סיון/תשפ"ו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6305E236-2C2C-178F-1FDE-3D36E616E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13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020B8611-A23E-B699-02A5-EE49B1F89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1613" cy="365125"/>
          </a:xfrm>
          <a:prstGeom prst="rect">
            <a:avLst/>
          </a:prstGeom>
        </p:spPr>
        <p:txBody>
          <a:bodyPr/>
          <a:lstStyle/>
          <a:p>
            <a:fld id="{FEADB6DE-5916-4824-8128-0CC2DB2F28C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76873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D3625F3-68B5-604A-D199-BD188291C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065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03098BE-A9DB-5A94-CF04-84CC31DCDF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0" y="987425"/>
            <a:ext cx="6170613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92B30951-BBD5-BAE9-C94E-B1BF0933A4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0650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DED4513-DD52-6FF0-BD44-55F5DEBBE5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9013" y="6356350"/>
            <a:ext cx="2741612" cy="365125"/>
          </a:xfrm>
          <a:prstGeom prst="rect">
            <a:avLst/>
          </a:prstGeom>
        </p:spPr>
        <p:txBody>
          <a:bodyPr/>
          <a:lstStyle/>
          <a:p>
            <a:fld id="{D4CFDC03-01ED-48F9-9EB6-D7E3CA119FD4}" type="datetimeFigureOut">
              <a:rPr lang="he-IL" smtClean="0"/>
              <a:t>ט"ז/סיון/תשפ"ו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EE1198FF-4A62-FEEB-9915-B194FDF97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13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5831835D-8E68-F433-2C7F-A74777841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1613" cy="365125"/>
          </a:xfrm>
          <a:prstGeom prst="rect">
            <a:avLst/>
          </a:prstGeom>
        </p:spPr>
        <p:txBody>
          <a:bodyPr/>
          <a:lstStyle/>
          <a:p>
            <a:fld id="{FEADB6DE-5916-4824-8128-0CC2DB2F28C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469769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3B53486-7464-2052-CB3A-40AF2A421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065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29C582FC-E521-3599-2D08-394D43B625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1600" y="987425"/>
            <a:ext cx="6170613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EFB102D0-63E0-7E16-BDAB-1EF15B7777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0650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E076687C-757C-A1A6-31DF-16B350003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9013" y="6356350"/>
            <a:ext cx="2741612" cy="365125"/>
          </a:xfrm>
          <a:prstGeom prst="rect">
            <a:avLst/>
          </a:prstGeom>
        </p:spPr>
        <p:txBody>
          <a:bodyPr/>
          <a:lstStyle/>
          <a:p>
            <a:fld id="{D4CFDC03-01ED-48F9-9EB6-D7E3CA119FD4}" type="datetimeFigureOut">
              <a:rPr lang="he-IL" smtClean="0"/>
              <a:t>ט"ז/סיון/תשפ"ו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FA58932F-9E6F-3F13-5510-1205C4EA9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13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3239BAA9-E200-740C-0908-D817D38D8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1613" cy="365125"/>
          </a:xfrm>
          <a:prstGeom prst="rect">
            <a:avLst/>
          </a:prstGeom>
        </p:spPr>
        <p:txBody>
          <a:bodyPr/>
          <a:lstStyle/>
          <a:p>
            <a:fld id="{FEADB6DE-5916-4824-8128-0CC2DB2F28C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120113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C91E5FF-E497-C9B3-FD3C-9F74DD8D5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2425" cy="1325563"/>
          </a:xfrm>
          <a:prstGeom prst="rect">
            <a:avLst/>
          </a:prstGeo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A3694830-685F-1DFD-D47D-17832FA7FA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2425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D827FA8-A709-7663-0B32-4D6C04902B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9013" y="6356350"/>
            <a:ext cx="2741612" cy="365125"/>
          </a:xfrm>
          <a:prstGeom prst="rect">
            <a:avLst/>
          </a:prstGeom>
        </p:spPr>
        <p:txBody>
          <a:bodyPr/>
          <a:lstStyle/>
          <a:p>
            <a:fld id="{D4CFDC03-01ED-48F9-9EB6-D7E3CA119FD4}" type="datetimeFigureOut">
              <a:rPr lang="he-IL" smtClean="0"/>
              <a:t>ט"ז/סיון/תשפ"ו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9108FD4-4F9F-306D-F0A1-605111B58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13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961B336-195D-6895-1B44-4ABC96DC1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1613" cy="365125"/>
          </a:xfrm>
          <a:prstGeom prst="rect">
            <a:avLst/>
          </a:prstGeom>
        </p:spPr>
        <p:txBody>
          <a:bodyPr/>
          <a:lstStyle/>
          <a:p>
            <a:fld id="{FEADB6DE-5916-4824-8128-0CC2DB2F28C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172927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4EFDC797-5F5B-AC9B-0EE7-E0731E4A82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3313" y="365125"/>
            <a:ext cx="2627312" cy="5811838"/>
          </a:xfrm>
          <a:prstGeom prst="rect">
            <a:avLst/>
          </a:prstGeo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C22AAA19-756E-9344-C455-8ADDEAEE54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271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CD4601B-AFE0-E27A-6E4D-71092B5A91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9013" y="6356350"/>
            <a:ext cx="2741612" cy="365125"/>
          </a:xfrm>
          <a:prstGeom prst="rect">
            <a:avLst/>
          </a:prstGeom>
        </p:spPr>
        <p:txBody>
          <a:bodyPr/>
          <a:lstStyle/>
          <a:p>
            <a:fld id="{D4CFDC03-01ED-48F9-9EB6-D7E3CA119FD4}" type="datetimeFigureOut">
              <a:rPr lang="he-IL" smtClean="0"/>
              <a:t>ט"ז/סיון/תשפ"ו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29358C8-77BA-C1CE-E993-623717030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13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4B1B3AA-D4E7-32E5-A7F2-A80ABF46A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1613" cy="365125"/>
          </a:xfrm>
          <a:prstGeom prst="rect">
            <a:avLst/>
          </a:prstGeom>
        </p:spPr>
        <p:txBody>
          <a:bodyPr/>
          <a:lstStyle/>
          <a:p>
            <a:fld id="{FEADB6DE-5916-4824-8128-0CC2DB2F28C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58059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2642BB75-928C-2465-BE65-BD2ABDA0FE1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448489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3145536"/>
            <a:ext cx="121889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65212" y="843162"/>
            <a:ext cx="10058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dirty="0">
                <a:solidFill>
                  <a:srgbClr val="1E1E2E"/>
                </a:solidFill>
              </a:rPr>
              <a:t>Medify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12" y="2199345"/>
            <a:ext cx="100584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Smart Medication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5212" y="3691292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1A73E8"/>
                </a:solidFill>
              </a:rPr>
              <a:t>By Netta Spivak &amp; Roy Tomer</a:t>
            </a:r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1F8E8C66-080A-E5AF-01E9-9AD61B8D74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72070" y1="52930" x2="72070" y2="52930"/>
                        <a14:foregroundMark x1="67383" y1="45410" x2="67383" y2="45410"/>
                        <a14:foregroundMark x1="63932" y1="43262" x2="63932" y2="43262"/>
                        <a14:foregroundMark x1="63932" y1="48242" x2="63932" y2="48242"/>
                        <a14:foregroundMark x1="61523" y1="47070" x2="61523" y2="47070"/>
                        <a14:foregroundMark x1="54492" y1="47754" x2="54492" y2="47754"/>
                        <a14:foregroundMark x1="44727" y1="48926" x2="44727" y2="48926"/>
                        <a14:foregroundMark x1="33659" y1="38477" x2="33659" y2="38477"/>
                        <a14:foregroundMark x1="29688" y1="39160" x2="29688" y2="39160"/>
                        <a14:foregroundMark x1="29036" y1="43555" x2="29036" y2="4355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51305" y="4535785"/>
            <a:ext cx="3486214" cy="23241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5760" y="137160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dirty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Why medication management is a critical challenge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95B50B-629A-D286-A87D-95CB175A3731}"/>
              </a:ext>
            </a:extLst>
          </p:cNvPr>
          <p:cNvSpPr txBox="1"/>
          <p:nvPr/>
        </p:nvSpPr>
        <p:spPr>
          <a:xfrm>
            <a:off x="406525" y="1373301"/>
            <a:ext cx="11375774" cy="3181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SzPct val="130000"/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1E1E2E"/>
                </a:solidFill>
              </a:rPr>
              <a:t>Patients taking multiple medications face high risk of missed or incorrect intake</a:t>
            </a:r>
          </a:p>
          <a:p>
            <a:pPr marL="285750" indent="-285750">
              <a:lnSpc>
                <a:spcPct val="200000"/>
              </a:lnSpc>
              <a:buSzPct val="130000"/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1E1E2E"/>
                </a:solidFill>
              </a:rPr>
              <a:t>Passive solutions (pill organizers) provide no reminders or confirmation</a:t>
            </a:r>
          </a:p>
          <a:p>
            <a:pPr marL="285750" indent="-285750">
              <a:lnSpc>
                <a:spcPct val="200000"/>
              </a:lnSpc>
              <a:buSzPct val="130000"/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1E1E2E"/>
                </a:solidFill>
              </a:rPr>
              <a:t>Complex apps are not suitable for elderly or cognitively impaired users</a:t>
            </a:r>
            <a:endParaRPr lang="he-IL" sz="2600" dirty="0">
              <a:solidFill>
                <a:srgbClr val="1E1E2E"/>
              </a:solidFill>
            </a:endParaRPr>
          </a:p>
          <a:p>
            <a:pPr marL="285750" indent="-285750">
              <a:lnSpc>
                <a:spcPct val="200000"/>
              </a:lnSpc>
              <a:buSzPct val="130000"/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1E1E2E"/>
                </a:solidFill>
              </a:rPr>
              <a:t>Caregivers and family members have no visibility into daily intake compliance</a:t>
            </a:r>
            <a:endParaRPr lang="en-US" sz="2600" b="0" dirty="0">
              <a:solidFill>
                <a:srgbClr val="1E1E2E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770A9-FEE2-5207-7E64-90E00F83A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9F6B059-40C9-1ACA-8CD8-23DA5242F286}"/>
              </a:ext>
            </a:extLst>
          </p:cNvPr>
          <p:cNvSpPr txBox="1"/>
          <p:nvPr/>
        </p:nvSpPr>
        <p:spPr>
          <a:xfrm>
            <a:off x="365760" y="137160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Our Solution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4C824D-29DA-A456-B466-A01EA164E53F}"/>
              </a:ext>
            </a:extLst>
          </p:cNvPr>
          <p:cNvSpPr txBox="1"/>
          <p:nvPr/>
        </p:nvSpPr>
        <p:spPr>
          <a:xfrm>
            <a:off x="365760" y="749808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sz="2000" dirty="0"/>
              <a:t>Bridging the gap between prescriptions and actual intake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E4D879-9172-5A5D-0D62-52403398CFB6}"/>
              </a:ext>
            </a:extLst>
          </p:cNvPr>
          <p:cNvSpPr txBox="1"/>
          <p:nvPr/>
        </p:nvSpPr>
        <p:spPr>
          <a:xfrm>
            <a:off x="548640" y="1417320"/>
            <a:ext cx="11338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1E1E2E"/>
                </a:solidFill>
              </a:rPr>
              <a:t>From passive reminders to active medication management</a:t>
            </a:r>
            <a:endParaRPr lang="en-US" sz="2800" dirty="0">
              <a:solidFill>
                <a:srgbClr val="1E1E2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09A9BB-633C-3F0D-0AB6-73A14560841F}"/>
              </a:ext>
            </a:extLst>
          </p:cNvPr>
          <p:cNvSpPr txBox="1"/>
          <p:nvPr/>
        </p:nvSpPr>
        <p:spPr>
          <a:xfrm>
            <a:off x="315091" y="2020824"/>
            <a:ext cx="11558643" cy="3031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dirty="0">
                <a:solidFill>
                  <a:srgbClr val="1E1E2E"/>
                </a:solidFill>
              </a:rPr>
              <a:t>Medify is a smart medication management system that combines a smart pill box with a mobile application to help patients take the right medication at the right time.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solidFill>
                  <a:srgbClr val="1E1E2E"/>
                </a:solidFill>
              </a:rPr>
              <a:t>The system actively guides and monitors the medication intake process</a:t>
            </a:r>
            <a:br>
              <a:rPr lang="en-US" sz="2600" dirty="0">
                <a:solidFill>
                  <a:srgbClr val="1E1E2E"/>
                </a:solidFill>
              </a:rPr>
            </a:br>
            <a:r>
              <a:rPr lang="en-US" sz="2600" dirty="0">
                <a:solidFill>
                  <a:srgbClr val="1E1E2E"/>
                </a:solidFill>
              </a:rPr>
              <a:t>from medication management, reminders and caregiver alerts to medication dispensing.</a:t>
            </a:r>
          </a:p>
        </p:txBody>
      </p:sp>
    </p:spTree>
    <p:extLst>
      <p:ext uri="{BB962C8B-B14F-4D97-AF65-F5344CB8AC3E}">
        <p14:creationId xmlns:p14="http://schemas.microsoft.com/office/powerpoint/2010/main" val="3101639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30" name="Rectangle 5">
            <a:extLst>
              <a:ext uri="{FF2B5EF4-FFF2-40B4-BE49-F238E27FC236}">
                <a16:creationId xmlns:a16="http://schemas.microsoft.com/office/drawing/2014/main" id="{5BFC09BB-8BD5-79CD-9AAA-A08E661D3B4D}"/>
              </a:ext>
            </a:extLst>
          </p:cNvPr>
          <p:cNvSpPr/>
          <p:nvPr/>
        </p:nvSpPr>
        <p:spPr>
          <a:xfrm>
            <a:off x="457200" y="1463039"/>
            <a:ext cx="11247120" cy="1689513"/>
          </a:xfrm>
          <a:prstGeom prst="rect">
            <a:avLst/>
          </a:prstGeom>
          <a:solidFill>
            <a:srgbClr val="FFFFFF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6">
            <a:extLst>
              <a:ext uri="{FF2B5EF4-FFF2-40B4-BE49-F238E27FC236}">
                <a16:creationId xmlns:a16="http://schemas.microsoft.com/office/drawing/2014/main" id="{D07D2D7D-F7EF-B543-7BB1-80E420013B24}"/>
              </a:ext>
            </a:extLst>
          </p:cNvPr>
          <p:cNvSpPr txBox="1"/>
          <p:nvPr/>
        </p:nvSpPr>
        <p:spPr>
          <a:xfrm>
            <a:off x="685800" y="1536192"/>
            <a:ext cx="32004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>
                <a:solidFill>
                  <a:srgbClr val="1A73E8"/>
                </a:solidFill>
              </a:rPr>
              <a:t>Smart Pill Box</a:t>
            </a:r>
          </a:p>
        </p:txBody>
      </p:sp>
      <p:sp>
        <p:nvSpPr>
          <p:cNvPr id="32" name="TextBox 7">
            <a:extLst>
              <a:ext uri="{FF2B5EF4-FFF2-40B4-BE49-F238E27FC236}">
                <a16:creationId xmlns:a16="http://schemas.microsoft.com/office/drawing/2014/main" id="{F93B8371-8C3F-F5AA-C94F-DF7ECDCF4D27}"/>
              </a:ext>
            </a:extLst>
          </p:cNvPr>
          <p:cNvSpPr txBox="1"/>
          <p:nvPr/>
        </p:nvSpPr>
        <p:spPr>
          <a:xfrm>
            <a:off x="685800" y="2090503"/>
            <a:ext cx="10515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22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Automatically dispenses medication at scheduled times after user approval</a:t>
            </a:r>
            <a:r>
              <a:rPr lang="en-US" sz="22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Using Sensor to identify when all of the medications were taken.</a:t>
            </a:r>
            <a:endParaRPr sz="2200" b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3" name="Rectangle 8">
            <a:extLst>
              <a:ext uri="{FF2B5EF4-FFF2-40B4-BE49-F238E27FC236}">
                <a16:creationId xmlns:a16="http://schemas.microsoft.com/office/drawing/2014/main" id="{2B1B0A0A-3A7B-4766-E003-D81D75B0446B}"/>
              </a:ext>
            </a:extLst>
          </p:cNvPr>
          <p:cNvSpPr/>
          <p:nvPr/>
        </p:nvSpPr>
        <p:spPr>
          <a:xfrm>
            <a:off x="457200" y="3609753"/>
            <a:ext cx="11247120" cy="2440173"/>
          </a:xfrm>
          <a:prstGeom prst="rect">
            <a:avLst/>
          </a:prstGeom>
          <a:solidFill>
            <a:srgbClr val="FFFFFF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9">
            <a:extLst>
              <a:ext uri="{FF2B5EF4-FFF2-40B4-BE49-F238E27FC236}">
                <a16:creationId xmlns:a16="http://schemas.microsoft.com/office/drawing/2014/main" id="{2C5AA9C0-6DDC-F4D8-CB25-E54CDB5D5C1A}"/>
              </a:ext>
            </a:extLst>
          </p:cNvPr>
          <p:cNvSpPr txBox="1"/>
          <p:nvPr/>
        </p:nvSpPr>
        <p:spPr>
          <a:xfrm>
            <a:off x="685800" y="3780016"/>
            <a:ext cx="44284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1" dirty="0">
                <a:solidFill>
                  <a:srgbClr val="1A73E8"/>
                </a:solidFill>
              </a:rPr>
              <a:t>medication management </a:t>
            </a:r>
            <a:endParaRPr sz="2600" b="1" dirty="0">
              <a:solidFill>
                <a:srgbClr val="1A73E8"/>
              </a:solidFill>
            </a:endParaRPr>
          </a:p>
        </p:txBody>
      </p:sp>
      <p:sp>
        <p:nvSpPr>
          <p:cNvPr id="35" name="TextBox 10">
            <a:extLst>
              <a:ext uri="{FF2B5EF4-FFF2-40B4-BE49-F238E27FC236}">
                <a16:creationId xmlns:a16="http://schemas.microsoft.com/office/drawing/2014/main" id="{5F3E5BC1-42DE-291B-E7D2-0CC8DA777F1F}"/>
              </a:ext>
            </a:extLst>
          </p:cNvPr>
          <p:cNvSpPr txBox="1"/>
          <p:nvPr/>
        </p:nvSpPr>
        <p:spPr>
          <a:xfrm>
            <a:off x="723014" y="4322136"/>
            <a:ext cx="1047838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Real-time mobile reminders when an intake window opens.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Intake approval via app or physical device button.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Pre intake reminders.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Caregiver view, for monitoring intake or missed intakes of the patient.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5760" y="137160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dirty="0">
                <a:solidFill>
                  <a:srgbClr val="FFFFFF"/>
                </a:solidFill>
              </a:rPr>
              <a:t>System Architecture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33E4172-9B1D-1B1B-DE00-F6B19BD6ADAE}"/>
              </a:ext>
            </a:extLst>
          </p:cNvPr>
          <p:cNvGrpSpPr/>
          <p:nvPr/>
        </p:nvGrpSpPr>
        <p:grpSpPr>
          <a:xfrm>
            <a:off x="711192" y="1847948"/>
            <a:ext cx="3200400" cy="1097280"/>
            <a:chOff x="135246" y="3300982"/>
            <a:chExt cx="3200400" cy="1097280"/>
          </a:xfrm>
        </p:grpSpPr>
        <p:sp>
          <p:nvSpPr>
            <p:cNvPr id="5" name="Rectangle 4"/>
            <p:cNvSpPr/>
            <p:nvPr/>
          </p:nvSpPr>
          <p:spPr>
            <a:xfrm>
              <a:off x="135246" y="3300982"/>
              <a:ext cx="3200400" cy="109728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26686" y="3392422"/>
              <a:ext cx="298434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400" b="1" dirty="0">
                  <a:solidFill>
                    <a:srgbClr val="FFFFFF"/>
                  </a:solidFill>
                </a:rPr>
                <a:t>Smart Pill Box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26686" y="3881520"/>
              <a:ext cx="302156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b="0" dirty="0">
                  <a:solidFill>
                    <a:srgbClr val="CCDDFF"/>
                  </a:solidFill>
                </a:rPr>
                <a:t>Arduino / C++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ECB1B3F-2555-136F-9BE2-182B802D9685}"/>
              </a:ext>
            </a:extLst>
          </p:cNvPr>
          <p:cNvGrpSpPr/>
          <p:nvPr/>
        </p:nvGrpSpPr>
        <p:grpSpPr>
          <a:xfrm>
            <a:off x="4494212" y="3404838"/>
            <a:ext cx="3200400" cy="1097280"/>
            <a:chOff x="4023360" y="1469579"/>
            <a:chExt cx="3200400" cy="1097280"/>
          </a:xfrm>
        </p:grpSpPr>
        <p:sp>
          <p:nvSpPr>
            <p:cNvPr id="8" name="Rectangle 7"/>
            <p:cNvSpPr/>
            <p:nvPr/>
          </p:nvSpPr>
          <p:spPr>
            <a:xfrm>
              <a:off x="4023360" y="1469579"/>
              <a:ext cx="3200400" cy="1097280"/>
            </a:xfrm>
            <a:prstGeom prst="rect">
              <a:avLst/>
            </a:prstGeom>
            <a:solidFill>
              <a:srgbClr val="1E1E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194542" y="1561019"/>
              <a:ext cx="283463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400" b="1" dirty="0">
                  <a:solidFill>
                    <a:srgbClr val="FFFFFF"/>
                  </a:solidFill>
                </a:rPr>
                <a:t>Backend Server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199856" y="2036507"/>
              <a:ext cx="283463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rgbClr val="CCDDFF"/>
                  </a:solidFill>
                </a:rPr>
                <a:t>Java + </a:t>
              </a:r>
              <a:r>
                <a:rPr b="0" dirty="0">
                  <a:solidFill>
                    <a:srgbClr val="CCDDFF"/>
                  </a:solidFill>
                </a:rPr>
                <a:t>Spring Boot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F4F0688-C20C-5D8B-D01C-9FF30D23FF4F}"/>
              </a:ext>
            </a:extLst>
          </p:cNvPr>
          <p:cNvGrpSpPr/>
          <p:nvPr/>
        </p:nvGrpSpPr>
        <p:grpSpPr>
          <a:xfrm>
            <a:off x="4494212" y="5459172"/>
            <a:ext cx="3200400" cy="1097280"/>
            <a:chOff x="4114800" y="5427602"/>
            <a:chExt cx="3200400" cy="1097280"/>
          </a:xfrm>
        </p:grpSpPr>
        <p:sp>
          <p:nvSpPr>
            <p:cNvPr id="11" name="Rectangle 10"/>
            <p:cNvSpPr/>
            <p:nvPr/>
          </p:nvSpPr>
          <p:spPr>
            <a:xfrm>
              <a:off x="4114800" y="5427602"/>
              <a:ext cx="3200400" cy="1097280"/>
            </a:xfrm>
            <a:prstGeom prst="rect">
              <a:avLst/>
            </a:prstGeom>
            <a:solidFill>
              <a:srgbClr val="55657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296614" y="5519042"/>
              <a:ext cx="283463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</a:rPr>
                <a:t>Database </a:t>
              </a:r>
              <a:endParaRPr sz="2400" b="1" dirty="0">
                <a:solidFill>
                  <a:srgbClr val="FFFFFF"/>
                </a:solidFill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285983" y="5994530"/>
              <a:ext cx="283463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0" dirty="0">
                  <a:solidFill>
                    <a:srgbClr val="CCDDFF"/>
                  </a:solidFill>
                </a:rPr>
                <a:t>PostgreSQL 15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F7CB862-0CA6-5800-6A02-3E180568A6CA}"/>
              </a:ext>
            </a:extLst>
          </p:cNvPr>
          <p:cNvGrpSpPr/>
          <p:nvPr/>
        </p:nvGrpSpPr>
        <p:grpSpPr>
          <a:xfrm>
            <a:off x="8368674" y="1851660"/>
            <a:ext cx="3200400" cy="1213259"/>
            <a:chOff x="8758038" y="3383279"/>
            <a:chExt cx="3200400" cy="1213259"/>
          </a:xfrm>
        </p:grpSpPr>
        <p:sp>
          <p:nvSpPr>
            <p:cNvPr id="14" name="Rectangle 13"/>
            <p:cNvSpPr/>
            <p:nvPr/>
          </p:nvSpPr>
          <p:spPr>
            <a:xfrm>
              <a:off x="8758038" y="3383279"/>
              <a:ext cx="3200400" cy="109728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849477" y="3474719"/>
              <a:ext cx="301752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</a:rPr>
                <a:t>Flutter </a:t>
              </a:r>
              <a:r>
                <a:rPr sz="2400" b="1" dirty="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849477" y="3950207"/>
              <a:ext cx="301752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b="0" dirty="0">
                  <a:solidFill>
                    <a:srgbClr val="CCDDFF"/>
                  </a:solidFill>
                </a:rPr>
                <a:t>Dart</a:t>
              </a:r>
              <a:r>
                <a:rPr lang="he-IL" b="0" dirty="0">
                  <a:solidFill>
                    <a:srgbClr val="CCDDFF"/>
                  </a:solidFill>
                </a:rPr>
                <a:t> </a:t>
              </a:r>
              <a:r>
                <a:rPr lang="en-US" b="0" dirty="0">
                  <a:solidFill>
                    <a:srgbClr val="CCDDFF"/>
                  </a:solidFill>
                </a:rPr>
                <a:t> + Flutter</a:t>
              </a:r>
              <a:endParaRPr lang="he-IL" b="0" dirty="0">
                <a:solidFill>
                  <a:srgbClr val="CCDDFF"/>
                </a:solidFill>
              </a:endParaRPr>
            </a:p>
            <a:p>
              <a:pPr algn="ctr"/>
              <a:endParaRPr b="0" dirty="0">
                <a:solidFill>
                  <a:srgbClr val="CCDDFF"/>
                </a:solidFill>
              </a:endParaRPr>
            </a:p>
          </p:txBody>
        </p:sp>
      </p:grpSp>
      <p:sp>
        <p:nvSpPr>
          <p:cNvPr id="18" name="TextBox 17"/>
          <p:cNvSpPr txBox="1"/>
          <p:nvPr/>
        </p:nvSpPr>
        <p:spPr>
          <a:xfrm rot="2772321">
            <a:off x="3784552" y="2655786"/>
            <a:ext cx="15160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dirty="0">
                <a:solidFill>
                  <a:srgbClr val="55657A"/>
                </a:solidFill>
              </a:rPr>
              <a:t>Wi-Fi / REST</a:t>
            </a:r>
          </a:p>
        </p:txBody>
      </p:sp>
      <p:sp>
        <p:nvSpPr>
          <p:cNvPr id="20" name="TextBox 19"/>
          <p:cNvSpPr txBox="1"/>
          <p:nvPr/>
        </p:nvSpPr>
        <p:spPr>
          <a:xfrm rot="19532987">
            <a:off x="7175877" y="2679140"/>
            <a:ext cx="1188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dirty="0">
                <a:solidFill>
                  <a:srgbClr val="55657A"/>
                </a:solidFill>
              </a:rPr>
              <a:t>REST API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AC5802E-FAC0-3DD4-6A69-38B2DCAF10DD}"/>
              </a:ext>
            </a:extLst>
          </p:cNvPr>
          <p:cNvCxnSpPr>
            <a:cxnSpLocks/>
          </p:cNvCxnSpPr>
          <p:nvPr/>
        </p:nvCxnSpPr>
        <p:spPr>
          <a:xfrm flipH="1">
            <a:off x="7461292" y="2748732"/>
            <a:ext cx="842348" cy="55301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2FE87EA-E448-B0E2-9725-6CEB7871B05F}"/>
              </a:ext>
            </a:extLst>
          </p:cNvPr>
          <p:cNvCxnSpPr/>
          <p:nvPr/>
        </p:nvCxnSpPr>
        <p:spPr>
          <a:xfrm>
            <a:off x="3943596" y="2709199"/>
            <a:ext cx="671764" cy="66453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8A90D20-8D6E-B957-D665-E9982B4A13E6}"/>
              </a:ext>
            </a:extLst>
          </p:cNvPr>
          <p:cNvCxnSpPr/>
          <p:nvPr/>
        </p:nvCxnSpPr>
        <p:spPr>
          <a:xfrm>
            <a:off x="6093345" y="4593265"/>
            <a:ext cx="0" cy="82402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13A43A7-C2B7-202F-BFB7-397ABB1623B7}"/>
              </a:ext>
            </a:extLst>
          </p:cNvPr>
          <p:cNvCxnSpPr/>
          <p:nvPr/>
        </p:nvCxnSpPr>
        <p:spPr>
          <a:xfrm>
            <a:off x="4003158" y="2009553"/>
            <a:ext cx="430048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21C9A233-5474-651D-3623-31DCD51D793D}"/>
              </a:ext>
            </a:extLst>
          </p:cNvPr>
          <p:cNvSpPr txBox="1"/>
          <p:nvPr/>
        </p:nvSpPr>
        <p:spPr>
          <a:xfrm>
            <a:off x="5315372" y="1608632"/>
            <a:ext cx="16760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dirty="0">
                <a:solidFill>
                  <a:srgbClr val="55657A"/>
                </a:solidFill>
              </a:rPr>
              <a:t>Wi-Fi / REST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7294" y="137160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dirty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Choices and justifications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14075" y="1348739"/>
            <a:ext cx="2011680" cy="114389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259795" y="1495213"/>
            <a:ext cx="1920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9795" y="1919390"/>
            <a:ext cx="1920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dirty="0">
                <a:solidFill>
                  <a:srgbClr val="CCDDFF"/>
                </a:solidFill>
              </a:rPr>
              <a:t>Java + Spring Boot</a:t>
            </a:r>
          </a:p>
        </p:txBody>
      </p:sp>
      <p:sp>
        <p:nvSpPr>
          <p:cNvPr id="9" name="Rectangle 8"/>
          <p:cNvSpPr/>
          <p:nvPr/>
        </p:nvSpPr>
        <p:spPr>
          <a:xfrm>
            <a:off x="2391965" y="1348739"/>
            <a:ext cx="9582785" cy="1143894"/>
          </a:xfrm>
          <a:prstGeom prst="rect">
            <a:avLst/>
          </a:prstGeom>
          <a:solidFill>
            <a:srgbClr val="FFFFFF"/>
          </a:solidFill>
          <a:ln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 dirty="0"/>
          </a:p>
        </p:txBody>
      </p:sp>
      <p:sp>
        <p:nvSpPr>
          <p:cNvPr id="10" name="TextBox 9"/>
          <p:cNvSpPr txBox="1"/>
          <p:nvPr/>
        </p:nvSpPr>
        <p:spPr>
          <a:xfrm>
            <a:off x="2493327" y="1352091"/>
            <a:ext cx="933460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200" b="0" dirty="0">
                <a:solidFill>
                  <a:srgbClr val="55657A"/>
                </a:solidFill>
              </a:rPr>
              <a:t>Java and Spring Boot provide a stable and proven environment for backend system development, with strong support for REST APIs, scheduling tasks, and database integration.</a:t>
            </a:r>
            <a:endParaRPr sz="2200" b="0" dirty="0">
              <a:solidFill>
                <a:srgbClr val="55657A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FE691B8-F198-A8C8-4B3D-12EB44DE24EE}"/>
              </a:ext>
            </a:extLst>
          </p:cNvPr>
          <p:cNvSpPr/>
          <p:nvPr/>
        </p:nvSpPr>
        <p:spPr>
          <a:xfrm>
            <a:off x="202381" y="2636405"/>
            <a:ext cx="2011680" cy="114389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962601-9D31-A379-90CA-F71D500CE58A}"/>
              </a:ext>
            </a:extLst>
          </p:cNvPr>
          <p:cNvSpPr txBox="1"/>
          <p:nvPr/>
        </p:nvSpPr>
        <p:spPr>
          <a:xfrm>
            <a:off x="248101" y="2782879"/>
            <a:ext cx="1920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Frontend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38BD6B-C5AA-41B4-80F0-242BF9FC27AA}"/>
              </a:ext>
            </a:extLst>
          </p:cNvPr>
          <p:cNvSpPr txBox="1"/>
          <p:nvPr/>
        </p:nvSpPr>
        <p:spPr>
          <a:xfrm>
            <a:off x="248101" y="3207056"/>
            <a:ext cx="1920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CCDDFF"/>
                </a:solidFill>
              </a:rPr>
              <a:t>Dart + Flutter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DD9D700-583A-8B47-AF55-4214956095A8}"/>
              </a:ext>
            </a:extLst>
          </p:cNvPr>
          <p:cNvSpPr/>
          <p:nvPr/>
        </p:nvSpPr>
        <p:spPr>
          <a:xfrm>
            <a:off x="2380271" y="2636405"/>
            <a:ext cx="9582785" cy="1143894"/>
          </a:xfrm>
          <a:prstGeom prst="rect">
            <a:avLst/>
          </a:prstGeom>
          <a:solidFill>
            <a:srgbClr val="FFFFFF"/>
          </a:solidFill>
          <a:ln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EC57BE5-4137-EB38-0B22-2DE751C9657E}"/>
              </a:ext>
            </a:extLst>
          </p:cNvPr>
          <p:cNvSpPr txBox="1"/>
          <p:nvPr/>
        </p:nvSpPr>
        <p:spPr>
          <a:xfrm>
            <a:off x="2481633" y="2746634"/>
            <a:ext cx="933460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55657A"/>
                </a:solidFill>
              </a:rPr>
              <a:t>Flutter enables development of a single cross-platform application for both Android and iOS, while providing fast performance and a modern, responsive UI.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1AF0C07-17D8-02A7-0FD3-1FDDD41867D7}"/>
              </a:ext>
            </a:extLst>
          </p:cNvPr>
          <p:cNvSpPr/>
          <p:nvPr/>
        </p:nvSpPr>
        <p:spPr>
          <a:xfrm>
            <a:off x="207964" y="3932699"/>
            <a:ext cx="2011680" cy="114389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F69AA3C-ED9F-520B-2A8D-A3BC6001978B}"/>
              </a:ext>
            </a:extLst>
          </p:cNvPr>
          <p:cNvSpPr txBox="1"/>
          <p:nvPr/>
        </p:nvSpPr>
        <p:spPr>
          <a:xfrm>
            <a:off x="253684" y="4079173"/>
            <a:ext cx="1920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Hardware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C1E9664-13D7-1F47-CFA1-42F028BFFD2F}"/>
              </a:ext>
            </a:extLst>
          </p:cNvPr>
          <p:cNvSpPr txBox="1"/>
          <p:nvPr/>
        </p:nvSpPr>
        <p:spPr>
          <a:xfrm>
            <a:off x="253684" y="4503350"/>
            <a:ext cx="1920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CCDDFF"/>
                </a:solidFill>
              </a:rPr>
              <a:t>Arduino / C++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1EB01A5-1CBC-91FA-FF43-34553D5D3D73}"/>
              </a:ext>
            </a:extLst>
          </p:cNvPr>
          <p:cNvSpPr/>
          <p:nvPr/>
        </p:nvSpPr>
        <p:spPr>
          <a:xfrm>
            <a:off x="2385854" y="3932699"/>
            <a:ext cx="9582785" cy="1143894"/>
          </a:xfrm>
          <a:prstGeom prst="rect">
            <a:avLst/>
          </a:prstGeom>
          <a:solidFill>
            <a:srgbClr val="FFFFFF"/>
          </a:solidFill>
          <a:ln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1D3267-3385-72FD-4335-2DBA58A92C0D}"/>
              </a:ext>
            </a:extLst>
          </p:cNvPr>
          <p:cNvSpPr txBox="1"/>
          <p:nvPr/>
        </p:nvSpPr>
        <p:spPr>
          <a:xfrm>
            <a:off x="2487216" y="3936051"/>
            <a:ext cx="933460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55657A"/>
                </a:solidFill>
              </a:rPr>
              <a:t>Arduino and C++ provide a simple and accessible platform for embedded systems development, with extensive hardware library support and precise control over the device’s behavior.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5567A83-8097-6CDF-15ED-9A1E7BA8D2C1}"/>
              </a:ext>
            </a:extLst>
          </p:cNvPr>
          <p:cNvSpPr/>
          <p:nvPr/>
        </p:nvSpPr>
        <p:spPr>
          <a:xfrm>
            <a:off x="213547" y="5231381"/>
            <a:ext cx="2011680" cy="114389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4A2DB84-E54E-4824-F6FE-D9E8A2E3AA50}"/>
              </a:ext>
            </a:extLst>
          </p:cNvPr>
          <p:cNvSpPr txBox="1"/>
          <p:nvPr/>
        </p:nvSpPr>
        <p:spPr>
          <a:xfrm>
            <a:off x="259267" y="5377855"/>
            <a:ext cx="1920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A5D4B02-A508-6FF9-B110-B48EEFE6E01E}"/>
              </a:ext>
            </a:extLst>
          </p:cNvPr>
          <p:cNvSpPr txBox="1"/>
          <p:nvPr/>
        </p:nvSpPr>
        <p:spPr>
          <a:xfrm>
            <a:off x="259267" y="5802032"/>
            <a:ext cx="1920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CCDDFF"/>
                </a:solidFill>
              </a:rPr>
              <a:t>PostgreSQL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0268F88-B9AA-A1BD-BE73-0C6348A8BE5F}"/>
              </a:ext>
            </a:extLst>
          </p:cNvPr>
          <p:cNvSpPr/>
          <p:nvPr/>
        </p:nvSpPr>
        <p:spPr>
          <a:xfrm>
            <a:off x="2391437" y="5231381"/>
            <a:ext cx="9582785" cy="1143894"/>
          </a:xfrm>
          <a:prstGeom prst="rect">
            <a:avLst/>
          </a:prstGeom>
          <a:solidFill>
            <a:srgbClr val="FFFFFF"/>
          </a:solidFill>
          <a:ln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D3C15F9-649F-BC52-1F6F-C0A8D80C8E22}"/>
              </a:ext>
            </a:extLst>
          </p:cNvPr>
          <p:cNvSpPr txBox="1"/>
          <p:nvPr/>
        </p:nvSpPr>
        <p:spPr>
          <a:xfrm>
            <a:off x="2493327" y="5334159"/>
            <a:ext cx="933460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55657A"/>
                </a:solidFill>
              </a:rPr>
              <a:t>PostgreSQL provides reliable and consistent data management, while allowing easy schema management and smooth integration with Spring Boot.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5760" y="137160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dirty="0">
                <a:solidFill>
                  <a:srgbClr val="FFFFFF"/>
                </a:solidFill>
              </a:rPr>
              <a:t>Domain — Smart Pill 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Arduino / C++</a:t>
            </a:r>
          </a:p>
        </p:txBody>
      </p:sp>
      <p:sp>
        <p:nvSpPr>
          <p:cNvPr id="6" name="Rectangle 5"/>
          <p:cNvSpPr/>
          <p:nvPr/>
        </p:nvSpPr>
        <p:spPr>
          <a:xfrm>
            <a:off x="418923" y="1983154"/>
            <a:ext cx="2743200" cy="8229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10363" y="2204651"/>
            <a:ext cx="2560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</a:rPr>
              <a:t>Medication Release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45003" y="2011790"/>
            <a:ext cx="85953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>
                <a:solidFill>
                  <a:srgbClr val="55657A"/>
                </a:solidFill>
              </a:rPr>
              <a:t>Motor-driven mechanism releases medication into the intake compartment at scheduled times, after user approval</a:t>
            </a:r>
          </a:p>
        </p:txBody>
      </p:sp>
      <p:sp>
        <p:nvSpPr>
          <p:cNvPr id="9" name="Rectangle 8"/>
          <p:cNvSpPr/>
          <p:nvPr/>
        </p:nvSpPr>
        <p:spPr>
          <a:xfrm>
            <a:off x="418923" y="3049630"/>
            <a:ext cx="2743200" cy="8229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" name="TextBox 9"/>
          <p:cNvSpPr txBox="1"/>
          <p:nvPr/>
        </p:nvSpPr>
        <p:spPr>
          <a:xfrm>
            <a:off x="510363" y="3102081"/>
            <a:ext cx="25603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</a:rPr>
              <a:t>Compartment Monitoring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45003" y="3085099"/>
            <a:ext cx="85953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>
                <a:solidFill>
                  <a:srgbClr val="55657A"/>
                </a:solidFill>
              </a:rPr>
              <a:t>Sensor detects whether the intake compartment was emptied within the allowed time window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8923" y="4009750"/>
            <a:ext cx="2743200" cy="8229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" name="TextBox 12"/>
          <p:cNvSpPr txBox="1"/>
          <p:nvPr/>
        </p:nvSpPr>
        <p:spPr>
          <a:xfrm>
            <a:off x="510363" y="4132861"/>
            <a:ext cx="25603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Medication Loading Guidance</a:t>
            </a:r>
            <a:endParaRPr sz="2000" b="1" dirty="0">
              <a:solidFill>
                <a:srgbClr val="FFFF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345003" y="4047331"/>
            <a:ext cx="85953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0" dirty="0">
                <a:solidFill>
                  <a:srgbClr val="55657A"/>
                </a:solidFill>
              </a:rPr>
              <a:t>LED indicators assist the user during medication setup by illuminating the correct compartments for each medication.</a:t>
            </a:r>
            <a:endParaRPr sz="2400" b="0" dirty="0">
              <a:solidFill>
                <a:srgbClr val="55657A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18923" y="5128677"/>
            <a:ext cx="2743200" cy="8229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6" name="TextBox 15"/>
          <p:cNvSpPr txBox="1"/>
          <p:nvPr/>
        </p:nvSpPr>
        <p:spPr>
          <a:xfrm>
            <a:off x="510363" y="5176311"/>
            <a:ext cx="25603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Autonomous Operation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45003" y="5120640"/>
            <a:ext cx="85953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55657A"/>
                </a:solidFill>
              </a:rPr>
              <a:t>Continues functioning independently even when the patient's phone is not nearby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5760" y="137160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dirty="0">
                <a:solidFill>
                  <a:srgbClr val="FFFFFF"/>
                </a:solidFill>
              </a:rPr>
              <a:t>Domain — Mobile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Flutter / Dart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303520" cy="34747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" name="TextBox 6"/>
          <p:cNvSpPr txBox="1"/>
          <p:nvPr/>
        </p:nvSpPr>
        <p:spPr>
          <a:xfrm>
            <a:off x="548640" y="1344168"/>
            <a:ext cx="5212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Patient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212080" cy="3359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SzPct val="130000"/>
              <a:buFont typeface="Arial" panose="020B0604020202020204" pitchFamily="34" charset="0"/>
              <a:buChar char="•"/>
            </a:pPr>
            <a:r>
              <a:rPr sz="2400" b="0" dirty="0">
                <a:solidFill>
                  <a:srgbClr val="1E1E2E"/>
                </a:solidFill>
              </a:rPr>
              <a:t>Medication schedule grouped by window (Morning / Noon</a:t>
            </a:r>
            <a:r>
              <a:rPr lang="en-US" sz="2400" b="0" dirty="0">
                <a:solidFill>
                  <a:srgbClr val="1E1E2E"/>
                </a:solidFill>
              </a:rPr>
              <a:t>/</a:t>
            </a:r>
            <a:r>
              <a:rPr lang="he-IL" sz="2400" b="0" dirty="0">
                <a:solidFill>
                  <a:srgbClr val="1E1E2E"/>
                </a:solidFill>
              </a:rPr>
              <a:t> </a:t>
            </a:r>
            <a:r>
              <a:rPr sz="2400" b="0" dirty="0">
                <a:solidFill>
                  <a:srgbClr val="1E1E2E"/>
                </a:solidFill>
              </a:rPr>
              <a:t>Evening)</a:t>
            </a:r>
            <a:r>
              <a:rPr lang="en-US" sz="2400" dirty="0">
                <a:solidFill>
                  <a:srgbClr val="1E1E2E"/>
                </a:solidFill>
              </a:rPr>
              <a:t>.</a:t>
            </a:r>
            <a:endParaRPr lang="en-US" sz="2400" b="0" dirty="0">
              <a:solidFill>
                <a:srgbClr val="1E1E2E"/>
              </a:solidFill>
            </a:endParaRPr>
          </a:p>
          <a:p>
            <a:pPr marL="285750" indent="-285750">
              <a:lnSpc>
                <a:spcPct val="150000"/>
              </a:lnSpc>
              <a:buSzPct val="13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E1E2E"/>
                </a:solidFill>
              </a:rPr>
              <a:t>Intake dialog with confirm or snooze (15 min or custom).</a:t>
            </a:r>
          </a:p>
          <a:p>
            <a:pPr marL="285750" indent="-285750">
              <a:lnSpc>
                <a:spcPct val="150000"/>
              </a:lnSpc>
              <a:buSzPct val="13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Pill insertion process.</a:t>
            </a:r>
            <a:endParaRPr lang="en-US" sz="2400" dirty="0">
              <a:solidFill>
                <a:srgbClr val="1E1E2E"/>
              </a:solidFill>
            </a:endParaRPr>
          </a:p>
          <a:p>
            <a:pPr marL="285750" indent="-285750">
              <a:lnSpc>
                <a:spcPct val="150000"/>
              </a:lnSpc>
              <a:buSzPct val="13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E1E2E"/>
                </a:solidFill>
              </a:rPr>
              <a:t>Simple, accessible UI for elderly users.</a:t>
            </a:r>
            <a:endParaRPr lang="en-US" sz="2400" b="0" dirty="0">
              <a:solidFill>
                <a:srgbClr val="1E1E2E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400800" y="1325880"/>
            <a:ext cx="5303520" cy="34747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" name="TextBox 12"/>
          <p:cNvSpPr txBox="1"/>
          <p:nvPr/>
        </p:nvSpPr>
        <p:spPr>
          <a:xfrm>
            <a:off x="6492240" y="1344168"/>
            <a:ext cx="5212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Caregiver 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783080"/>
            <a:ext cx="5511918" cy="2251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SzPct val="13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E1E2E"/>
                </a:solidFill>
              </a:rPr>
              <a:t>Medication schedule.</a:t>
            </a:r>
            <a:endParaRPr lang="en-US" sz="2400" b="0" dirty="0">
              <a:solidFill>
                <a:srgbClr val="1E1E2E"/>
              </a:solidFill>
            </a:endParaRPr>
          </a:p>
          <a:p>
            <a:pPr marL="285750" indent="-285750" algn="l">
              <a:lnSpc>
                <a:spcPct val="150000"/>
              </a:lnSpc>
              <a:buSzPct val="130000"/>
              <a:buFont typeface="Arial" panose="020B0604020202020204" pitchFamily="34" charset="0"/>
              <a:buChar char="•"/>
            </a:pPr>
            <a:r>
              <a:rPr sz="2400" b="0" dirty="0">
                <a:solidFill>
                  <a:srgbClr val="1E1E2E"/>
                </a:solidFill>
              </a:rPr>
              <a:t>Real-time intake status for the monitored </a:t>
            </a:r>
            <a:r>
              <a:rPr lang="en-US" sz="2400" b="0" dirty="0">
                <a:solidFill>
                  <a:srgbClr val="1E1E2E"/>
                </a:solidFill>
              </a:rPr>
              <a:t>p</a:t>
            </a:r>
            <a:r>
              <a:rPr sz="2400" b="0" dirty="0">
                <a:solidFill>
                  <a:srgbClr val="1E1E2E"/>
                </a:solidFill>
              </a:rPr>
              <a:t>atient</a:t>
            </a:r>
            <a:r>
              <a:rPr lang="en-US" sz="2400" dirty="0">
                <a:solidFill>
                  <a:srgbClr val="1E1E2E"/>
                </a:solidFill>
              </a:rPr>
              <a:t>.</a:t>
            </a:r>
            <a:endParaRPr lang="he-IL" sz="2400" b="0" dirty="0">
              <a:solidFill>
                <a:srgbClr val="1E1E2E"/>
              </a:solidFill>
            </a:endParaRPr>
          </a:p>
          <a:p>
            <a:pPr marL="285750" indent="-285750">
              <a:lnSpc>
                <a:spcPct val="150000"/>
              </a:lnSpc>
              <a:buSzPct val="13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E1E2E"/>
                </a:solidFill>
              </a:rPr>
              <a:t>Missed intake notification.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1280160"/>
            <a:ext cx="45720" cy="53035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Domain — Backend 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Java 21 · Spring Boot 3.4 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3657600" cy="34747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TextBox 6"/>
          <p:cNvSpPr txBox="1"/>
          <p:nvPr/>
        </p:nvSpPr>
        <p:spPr>
          <a:xfrm>
            <a:off x="457200" y="1344168"/>
            <a:ext cx="3566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FFFFFF"/>
                </a:solidFill>
              </a:rPr>
              <a:t>Module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6070" y="1755648"/>
            <a:ext cx="5574650" cy="3276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SzPct val="130000"/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1E1E2E"/>
                </a:solidFill>
              </a:rPr>
              <a:t>a</a:t>
            </a:r>
            <a:r>
              <a:rPr sz="2000" b="0" dirty="0">
                <a:solidFill>
                  <a:srgbClr val="1E1E2E"/>
                </a:solidFill>
              </a:rPr>
              <a:t>pp</a:t>
            </a:r>
            <a:r>
              <a:rPr lang="en-US" sz="2000" dirty="0">
                <a:solidFill>
                  <a:srgbClr val="1E1E2E"/>
                </a:solidFill>
              </a:rPr>
              <a:t> - </a:t>
            </a:r>
            <a:r>
              <a:rPr sz="2000" b="0" dirty="0">
                <a:solidFill>
                  <a:srgbClr val="1E1E2E"/>
                </a:solidFill>
              </a:rPr>
              <a:t>Spring Boot entry point</a:t>
            </a:r>
            <a:r>
              <a:rPr lang="en-US" sz="2000" b="0" dirty="0">
                <a:solidFill>
                  <a:srgbClr val="1E1E2E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SzPct val="13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E1E2E"/>
                </a:solidFill>
              </a:rPr>
              <a:t>api - REST controllers, services, notification adapter.</a:t>
            </a:r>
            <a:endParaRPr lang="en-US" sz="2000" b="0" dirty="0">
              <a:solidFill>
                <a:srgbClr val="1E1E2E"/>
              </a:solidFill>
            </a:endParaRPr>
          </a:p>
          <a:p>
            <a:pPr marL="285750" indent="-285750">
              <a:lnSpc>
                <a:spcPct val="150000"/>
              </a:lnSpc>
              <a:buSzPct val="130000"/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1E1E2E"/>
                </a:solidFill>
              </a:rPr>
              <a:t>domain </a:t>
            </a:r>
            <a:r>
              <a:rPr lang="en-US" sz="2000" dirty="0">
                <a:solidFill>
                  <a:srgbClr val="1E1E2E"/>
                </a:solidFill>
              </a:rPr>
              <a:t>- Pure business logic, ports, schedulers, models.</a:t>
            </a:r>
          </a:p>
          <a:p>
            <a:pPr marL="285750" indent="-285750">
              <a:lnSpc>
                <a:spcPct val="150000"/>
              </a:lnSpc>
              <a:buSzPct val="130000"/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1E1E2E"/>
                </a:solidFill>
              </a:rPr>
              <a:t>data </a:t>
            </a:r>
            <a:r>
              <a:rPr lang="en-US" sz="2000" dirty="0">
                <a:solidFill>
                  <a:srgbClr val="1E1E2E"/>
                </a:solidFill>
              </a:rPr>
              <a:t>- handles database communication, and data access for the system.</a:t>
            </a:r>
            <a:endParaRPr sz="2000" b="0" dirty="0">
              <a:solidFill>
                <a:srgbClr val="1E1E2E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400800" y="1325880"/>
            <a:ext cx="5303520" cy="34747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" name="TextBox 12"/>
          <p:cNvSpPr txBox="1"/>
          <p:nvPr/>
        </p:nvSpPr>
        <p:spPr>
          <a:xfrm>
            <a:off x="6492240" y="1344168"/>
            <a:ext cx="5212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</a:rPr>
              <a:t>Key Responsibilities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2833" y="1755648"/>
            <a:ext cx="5600169" cy="2814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SzPct val="130000"/>
              <a:buFont typeface="Arial" panose="020B0604020202020204" pitchFamily="34" charset="0"/>
              <a:buChar char="•"/>
            </a:pPr>
            <a:r>
              <a:rPr sz="2000" b="0" dirty="0">
                <a:solidFill>
                  <a:srgbClr val="1E1E2E"/>
                </a:solidFill>
              </a:rPr>
              <a:t>Scheduled intake window </a:t>
            </a:r>
            <a:r>
              <a:rPr lang="en-US" sz="2000" dirty="0">
                <a:solidFill>
                  <a:srgbClr val="1E1E2E"/>
                </a:solidFill>
              </a:rPr>
              <a:t>management</a:t>
            </a:r>
            <a:r>
              <a:rPr lang="en-US" sz="2000" b="0" dirty="0">
                <a:solidFill>
                  <a:srgbClr val="1E1E2E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SzPct val="13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E1E2E"/>
                </a:solidFill>
              </a:rPr>
              <a:t>Missed intake detection.</a:t>
            </a:r>
            <a:endParaRPr lang="en-US" sz="2000" b="0" dirty="0">
              <a:solidFill>
                <a:srgbClr val="1E1E2E"/>
              </a:solidFill>
            </a:endParaRPr>
          </a:p>
          <a:p>
            <a:pPr marL="285750" indent="-285750">
              <a:lnSpc>
                <a:spcPct val="150000"/>
              </a:lnSpc>
              <a:buSzPct val="13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E1E2E"/>
                </a:solidFill>
              </a:rPr>
              <a:t>Notification queue - polled by Flutter every 3 sec.</a:t>
            </a:r>
          </a:p>
          <a:p>
            <a:pPr marL="285750" indent="-285750">
              <a:lnSpc>
                <a:spcPct val="150000"/>
              </a:lnSpc>
              <a:buSzPct val="13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E1E2E"/>
                </a:solidFill>
              </a:rPr>
              <a:t>Intake status lifecycle: PENDING → APPROVED → TAKEN.</a:t>
            </a:r>
          </a:p>
          <a:p>
            <a:pPr marL="285750" indent="-285750">
              <a:lnSpc>
                <a:spcPct val="150000"/>
              </a:lnSpc>
              <a:buSzPct val="13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E1E2E"/>
                </a:solidFill>
              </a:rPr>
              <a:t>Connection to the database.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1280160"/>
            <a:ext cx="45720" cy="53035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Domain —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PostgreSQL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2926080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2743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300" b="1">
                <a:solidFill>
                  <a:srgbClr val="FFFFFF"/>
                </a:solidFill>
              </a:defRPr>
            </a:lvl1pPr>
          </a:lstStyle>
          <a:p>
            <a:r>
              <a:rPr sz="1400" dirty="0"/>
              <a:t>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1618488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657A"/>
                </a:solidFill>
              </a:rPr>
              <a:t>User profiles, roles (PATIENT / CAREGIVER), authentication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77440"/>
            <a:ext cx="2926080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2743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600" b="1">
                <a:solidFill>
                  <a:srgbClr val="FFFFFF"/>
                </a:solidFill>
              </a:defRPr>
            </a:lvl1pPr>
          </a:lstStyle>
          <a:p>
            <a:r>
              <a:rPr sz="1400" dirty="0"/>
              <a:t>medications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578608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657A"/>
                </a:solidFill>
              </a:rPr>
              <a:t>Medication name, timing window, dosage, pre-intake reminder rules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37560"/>
            <a:ext cx="2926080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3520440"/>
            <a:ext cx="2743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600" b="1">
                <a:solidFill>
                  <a:srgbClr val="FFFFFF"/>
                </a:solidFill>
              </a:defRPr>
            </a:lvl1pPr>
          </a:lstStyle>
          <a:p>
            <a:r>
              <a:rPr sz="1400" dirty="0"/>
              <a:t>intakes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3538728"/>
            <a:ext cx="83210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>
                <a:solidFill>
                  <a:srgbClr val="55657A"/>
                </a:solidFill>
              </a:rPr>
              <a:t>One record per timing window per day </a:t>
            </a:r>
            <a:r>
              <a:rPr lang="en-US" sz="1500" b="0" dirty="0">
                <a:solidFill>
                  <a:srgbClr val="55657A"/>
                </a:solidFill>
              </a:rPr>
              <a:t>-</a:t>
            </a:r>
            <a:r>
              <a:rPr sz="1500" b="0" dirty="0">
                <a:solidFill>
                  <a:srgbClr val="55657A"/>
                </a:solidFill>
              </a:rPr>
              <a:t> tracks approval, release, and status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297680"/>
            <a:ext cx="2926080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4480560"/>
            <a:ext cx="2743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600" b="1">
                <a:solidFill>
                  <a:srgbClr val="FFFFFF"/>
                </a:solidFill>
              </a:defRPr>
            </a:lvl1pPr>
          </a:lstStyle>
          <a:p>
            <a:r>
              <a:rPr lang="en-US" sz="1400" dirty="0"/>
              <a:t>c</a:t>
            </a:r>
            <a:r>
              <a:rPr sz="1400" dirty="0"/>
              <a:t>aregiver</a:t>
            </a:r>
            <a:r>
              <a:rPr lang="he-IL" sz="1400" dirty="0"/>
              <a:t>_</a:t>
            </a:r>
            <a:r>
              <a:rPr sz="1400" dirty="0"/>
              <a:t>links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4498848"/>
            <a:ext cx="83210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>
                <a:solidFill>
                  <a:srgbClr val="55657A"/>
                </a:solidFill>
              </a:rPr>
              <a:t>Patien</a:t>
            </a:r>
            <a:r>
              <a:rPr lang="en-US" sz="1500" b="0" dirty="0">
                <a:solidFill>
                  <a:srgbClr val="55657A"/>
                </a:solidFill>
              </a:rPr>
              <a:t>t</a:t>
            </a:r>
            <a:r>
              <a:rPr lang="en-US" sz="1500" dirty="0">
                <a:solidFill>
                  <a:srgbClr val="55657A"/>
                </a:solidFill>
              </a:rPr>
              <a:t>-</a:t>
            </a:r>
            <a:r>
              <a:rPr sz="1500" b="0" dirty="0">
                <a:solidFill>
                  <a:srgbClr val="55657A"/>
                </a:solidFill>
              </a:rPr>
              <a:t>caregiver associations and alert preferences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257800"/>
            <a:ext cx="2926080" cy="7772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5440680"/>
            <a:ext cx="2743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600" b="1">
                <a:solidFill>
                  <a:srgbClr val="FFFFFF"/>
                </a:solidFill>
              </a:defRPr>
            </a:lvl1pPr>
          </a:lstStyle>
          <a:p>
            <a:r>
              <a:rPr lang="en-US" sz="1400" dirty="0"/>
              <a:t>n</a:t>
            </a:r>
            <a:r>
              <a:rPr sz="1400" dirty="0"/>
              <a:t>otification</a:t>
            </a:r>
            <a:r>
              <a:rPr lang="he-IL" sz="1400" dirty="0"/>
              <a:t>_</a:t>
            </a:r>
            <a:r>
              <a:rPr sz="1400" dirty="0"/>
              <a:t>logs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5458968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657A"/>
                </a:solidFill>
              </a:rPr>
              <a:t>History of all notifications and alerts sent by the system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Current Project Status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2743200" cy="34747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4416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Completed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36192"/>
            <a:ext cx="11247120" cy="3259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Clr>
                <a:srgbClr val="34A853"/>
              </a:buClr>
              <a:buSzPct val="120000"/>
              <a:buFont typeface="Wingdings" panose="05000000000000000000" pitchFamily="2" charset="2"/>
              <a:buChar char="ü"/>
            </a:pPr>
            <a:r>
              <a:rPr lang="en-US" sz="1500" dirty="0">
                <a:solidFill>
                  <a:srgbClr val="34A853"/>
                </a:solidFill>
              </a:rPr>
              <a:t>Patient app – register medications, schedule with intake window status, intake notification with approve or snooze options.</a:t>
            </a:r>
          </a:p>
          <a:p>
            <a:pPr marL="285750" indent="-285750">
              <a:lnSpc>
                <a:spcPct val="200000"/>
              </a:lnSpc>
              <a:buClr>
                <a:srgbClr val="34A853"/>
              </a:buClr>
              <a:buSzPct val="120000"/>
              <a:buFont typeface="Wingdings" panose="05000000000000000000" pitchFamily="2" charset="2"/>
              <a:buChar char="ü"/>
            </a:pPr>
            <a:r>
              <a:rPr lang="en-US" sz="1500" dirty="0">
                <a:solidFill>
                  <a:srgbClr val="34A853"/>
                </a:solidFill>
              </a:rPr>
              <a:t>Caregiver screen – intake schedule and daily status overview.</a:t>
            </a:r>
          </a:p>
          <a:p>
            <a:pPr marL="285750" indent="-285750">
              <a:lnSpc>
                <a:spcPct val="200000"/>
              </a:lnSpc>
              <a:buClr>
                <a:srgbClr val="34A853"/>
              </a:buClr>
              <a:buSzPct val="120000"/>
              <a:buFont typeface="Wingdings" panose="05000000000000000000" pitchFamily="2" charset="2"/>
              <a:buChar char="ü"/>
            </a:pPr>
            <a:r>
              <a:rPr lang="en-US" sz="1500" dirty="0">
                <a:solidFill>
                  <a:srgbClr val="34A853"/>
                </a:solidFill>
              </a:rPr>
              <a:t>Backend core - implement medication management, intake tracking, user and caregiver notifications and persistent DB storage.</a:t>
            </a:r>
          </a:p>
          <a:p>
            <a:pPr marL="285750" indent="-285750">
              <a:lnSpc>
                <a:spcPct val="200000"/>
              </a:lnSpc>
              <a:buClr>
                <a:srgbClr val="34A853"/>
              </a:buClr>
              <a:buSzPct val="120000"/>
              <a:buFont typeface="Wingdings" panose="05000000000000000000" pitchFamily="2" charset="2"/>
              <a:buChar char="ü"/>
            </a:pPr>
            <a:r>
              <a:rPr lang="en-US" sz="1500" dirty="0">
                <a:solidFill>
                  <a:srgbClr val="34A853"/>
                </a:solidFill>
              </a:rPr>
              <a:t>Automatic scheduling - Morning 08:00, Noon 13:00, Evening 20:00, and postpone an intake window.</a:t>
            </a:r>
          </a:p>
          <a:p>
            <a:pPr marL="285750" indent="-285750">
              <a:lnSpc>
                <a:spcPct val="200000"/>
              </a:lnSpc>
              <a:buClr>
                <a:srgbClr val="34A853"/>
              </a:buClr>
              <a:buSzPct val="120000"/>
              <a:buFont typeface="Wingdings" panose="05000000000000000000" pitchFamily="2" charset="2"/>
              <a:buChar char="ü"/>
            </a:pPr>
            <a:r>
              <a:rPr lang="en-US" sz="1500" dirty="0">
                <a:solidFill>
                  <a:srgbClr val="34A853"/>
                </a:solidFill>
              </a:rPr>
              <a:t>Arduino device - Wi-Fi communication, listen and response to API requests.</a:t>
            </a:r>
          </a:p>
          <a:p>
            <a:pPr marL="285750" indent="-285750">
              <a:lnSpc>
                <a:spcPct val="200000"/>
              </a:lnSpc>
              <a:buClr>
                <a:srgbClr val="34A853"/>
              </a:buClr>
              <a:buSzPct val="120000"/>
              <a:buFont typeface="Wingdings" panose="05000000000000000000" pitchFamily="2" charset="2"/>
              <a:buChar char="ü"/>
            </a:pPr>
            <a:r>
              <a:rPr lang="en-US" sz="1500" dirty="0">
                <a:solidFill>
                  <a:srgbClr val="34A853"/>
                </a:solidFill>
              </a:rPr>
              <a:t>Arduino device - app-controlled medication dispensing.</a:t>
            </a:r>
          </a:p>
          <a:p>
            <a:pPr marL="285750" indent="-285750">
              <a:lnSpc>
                <a:spcPct val="200000"/>
              </a:lnSpc>
              <a:buClr>
                <a:srgbClr val="34A853"/>
              </a:buClr>
              <a:buSzPct val="120000"/>
              <a:buFont typeface="Wingdings" panose="05000000000000000000" pitchFamily="2" charset="2"/>
              <a:buChar char="ü"/>
            </a:pPr>
            <a:r>
              <a:rPr lang="en-US" sz="1500" dirty="0">
                <a:solidFill>
                  <a:srgbClr val="34A853"/>
                </a:solidFill>
              </a:rPr>
              <a:t> PostgreSQL - database integration and schema management.</a:t>
            </a:r>
            <a:endParaRPr sz="1500" b="0" dirty="0">
              <a:solidFill>
                <a:srgbClr val="34A853"/>
              </a:solidFill>
            </a:endParaRPr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EA4A0081-2BBF-D9B5-A88C-F0E179ED096C}"/>
              </a:ext>
            </a:extLst>
          </p:cNvPr>
          <p:cNvSpPr/>
          <p:nvPr/>
        </p:nvSpPr>
        <p:spPr>
          <a:xfrm>
            <a:off x="365760" y="4995297"/>
            <a:ext cx="2743200" cy="34747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5">
            <a:extLst>
              <a:ext uri="{FF2B5EF4-FFF2-40B4-BE49-F238E27FC236}">
                <a16:creationId xmlns:a16="http://schemas.microsoft.com/office/drawing/2014/main" id="{D23E5480-A5E0-8FED-08FB-0EA3EED029F4}"/>
              </a:ext>
            </a:extLst>
          </p:cNvPr>
          <p:cNvSpPr txBox="1"/>
          <p:nvPr/>
        </p:nvSpPr>
        <p:spPr>
          <a:xfrm>
            <a:off x="457200" y="5013585"/>
            <a:ext cx="26517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b="1" dirty="0">
                <a:solidFill>
                  <a:srgbClr val="FFFFFF"/>
                </a:solidFill>
              </a:rPr>
              <a:t>Planned</a:t>
            </a:r>
            <a:endParaRPr sz="1300" b="1" dirty="0">
              <a:solidFill>
                <a:srgbClr val="FFFFFF"/>
              </a:solidFill>
            </a:endParaRPr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135A29F6-5CCE-97CA-513B-553160825D90}"/>
              </a:ext>
            </a:extLst>
          </p:cNvPr>
          <p:cNvSpPr txBox="1"/>
          <p:nvPr/>
        </p:nvSpPr>
        <p:spPr>
          <a:xfrm>
            <a:off x="457200" y="5324481"/>
            <a:ext cx="11247120" cy="1441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SzPct val="100000"/>
              <a:buFont typeface="Courier New" panose="02070309020205020404" pitchFamily="49" charset="0"/>
              <a:buChar char="o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Arduino device - detecting missed medication intake.</a:t>
            </a:r>
          </a:p>
          <a:p>
            <a:pPr marL="285750" indent="-285750">
              <a:lnSpc>
                <a:spcPct val="150000"/>
              </a:lnSpc>
              <a:buSzPct val="100000"/>
              <a:buFont typeface="Courier New" panose="02070309020205020404" pitchFamily="49" charset="0"/>
              <a:buChar char="o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Pill insertion flow - developing the process of inserting medications through the mobile application.</a:t>
            </a:r>
          </a:p>
          <a:p>
            <a:pPr marL="285750" indent="-285750">
              <a:lnSpc>
                <a:spcPct val="150000"/>
              </a:lnSpc>
              <a:buSzPct val="100000"/>
              <a:buFont typeface="Courier New" panose="02070309020205020404" pitchFamily="49" charset="0"/>
              <a:buChar char="o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Implementation of pre intake notifications.</a:t>
            </a:r>
          </a:p>
          <a:p>
            <a:pPr marL="285750" indent="-285750">
              <a:lnSpc>
                <a:spcPct val="150000"/>
              </a:lnSpc>
              <a:buSzPct val="100000"/>
              <a:buFont typeface="Courier New" panose="02070309020205020404" pitchFamily="49" charset="0"/>
              <a:buChar char="o"/>
            </a:pP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Multi-user support  - extending the system to support multiple users and caregivers simultaneously.</a:t>
            </a:r>
            <a:endParaRPr sz="1500" b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AI Usage in Development</a:t>
            </a:r>
          </a:p>
        </p:txBody>
      </p:sp>
      <p:sp>
        <p:nvSpPr>
          <p:cNvPr id="21" name="TextBox 7">
            <a:extLst>
              <a:ext uri="{FF2B5EF4-FFF2-40B4-BE49-F238E27FC236}">
                <a16:creationId xmlns:a16="http://schemas.microsoft.com/office/drawing/2014/main" id="{7D06F3E2-B2FB-9B66-AF9C-5E6389B0A504}"/>
              </a:ext>
            </a:extLst>
          </p:cNvPr>
          <p:cNvSpPr txBox="1"/>
          <p:nvPr/>
        </p:nvSpPr>
        <p:spPr>
          <a:xfrm>
            <a:off x="548576" y="1362456"/>
            <a:ext cx="11091672" cy="1412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SzPct val="130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E1E2E"/>
                </a:solidFill>
              </a:rPr>
              <a:t>Lovable - used for visual planning and prototyping of the frontend screens before implementing them in Flutter.</a:t>
            </a:r>
          </a:p>
          <a:p>
            <a:pPr marL="285750" indent="-285750">
              <a:lnSpc>
                <a:spcPct val="200000"/>
              </a:lnSpc>
              <a:buSzPct val="130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E1E2E"/>
                </a:solidFill>
              </a:rPr>
              <a:t>Claude Code - used for code generation, architecture discussions, debugging assistance, and project documentation.</a:t>
            </a:r>
          </a:p>
          <a:p>
            <a:pPr marL="285750" indent="-285750">
              <a:lnSpc>
                <a:spcPct val="200000"/>
              </a:lnSpc>
              <a:buSzPct val="130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E1E2E"/>
                </a:solidFill>
              </a:rPr>
              <a:t>ChatGPT - used for document phrasing and assistance with planning the 3D printing components and OpenSCAD logic.</a:t>
            </a:r>
            <a:endParaRPr lang="en-US" sz="1500" b="0" dirty="0">
              <a:solidFill>
                <a:srgbClr val="1E1E2E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Box 100"/>
          <p:cNvSpPr txBox="1"/>
          <p:nvPr/>
        </p:nvSpPr>
        <p:spPr>
          <a:xfrm>
            <a:off x="365760" y="137160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 dirty="0">
                <a:solidFill>
                  <a:srgbClr val="FFFFFF"/>
                </a:solidFill>
              </a:rPr>
              <a:t>System Demo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65760" y="749808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See Medify in action</a:t>
            </a:r>
          </a:p>
        </p:txBody>
      </p:sp>
      <p:sp>
        <p:nvSpPr>
          <p:cNvPr id="3" name="rect"/>
          <p:cNvSpPr>
            <a:spLocks noGrp="1"/>
          </p:cNvSpPr>
          <p:nvPr/>
        </p:nvSpPr>
        <p:spPr>
          <a:xfrm>
            <a:off x="1094400" y="1400000"/>
            <a:ext cx="10000025" cy="5058000"/>
          </a:xfrm>
          <a:prstGeom prst="rect">
            <a:avLst/>
          </a:prstGeom>
          <a:solidFill>
            <a:srgbClr val="D0D8E8"/>
          </a:solidFill>
          <a:ln>
            <a:solidFill>
              <a:srgbClr val="CCDD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1094400" y="3429000"/>
            <a:ext cx="1000002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 i="0">
                <a:solidFill>
                  <a:srgbClr val="8899BB"/>
                </a:solidFill>
              </a:rPr>
              <a:t>▶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94400" y="4229000"/>
            <a:ext cx="100000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8899BB"/>
                </a:solidFill>
              </a:rPr>
              <a:t>Video coming soon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עיצוב מותאם אישית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865</Words>
  <Application>Microsoft Office PowerPoint</Application>
  <PresentationFormat>Custom</PresentationFormat>
  <Paragraphs>119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Arial</vt:lpstr>
      <vt:lpstr>Calibri</vt:lpstr>
      <vt:lpstr>Courier New</vt:lpstr>
      <vt:lpstr>Wingdings</vt:lpstr>
      <vt:lpstr>Office Theme</vt:lpstr>
      <vt:lpstr>עיצוב מותאם אישית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roy tomer</cp:lastModifiedBy>
  <cp:revision>12</cp:revision>
  <dcterms:created xsi:type="dcterms:W3CDTF">2013-01-27T09:14:16Z</dcterms:created>
  <dcterms:modified xsi:type="dcterms:W3CDTF">2026-06-01T19:00:28Z</dcterms:modified>
  <cp:category/>
</cp:coreProperties>
</file>