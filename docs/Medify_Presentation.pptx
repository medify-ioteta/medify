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7"/>
  </p:notesMasterIdLst>
  <p:sldIdLst>
    <p:sldId id="256" r:id="rId3"/>
    <p:sldId id="257" r:id="rId4"/>
    <p:sldId id="270" r:id="rId5"/>
    <p:sldId id="259" r:id="rId6"/>
    <p:sldId id="260" r:id="rId7"/>
    <p:sldId id="261" r:id="rId8"/>
    <p:sldId id="262" r:id="rId9"/>
    <p:sldId id="271" r:id="rId10"/>
    <p:sldId id="273" r:id="rId11"/>
    <p:sldId id="274" r:id="rId12"/>
    <p:sldId id="265" r:id="rId13"/>
    <p:sldId id="266" r:id="rId14"/>
    <p:sldId id="267" r:id="rId15"/>
    <p:sldId id="269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657A"/>
    <a:srgbClr val="AABBCC"/>
    <a:srgbClr val="FFFFFF"/>
    <a:srgbClr val="F7F7F7"/>
    <a:srgbClr val="F6F5F0"/>
    <a:srgbClr val="1E1E2E"/>
    <a:srgbClr val="F4F7FF"/>
    <a:srgbClr val="34A85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24D94033-31C9-4B82-868A-299F73C0B28E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he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331BBB24-0A24-42C6-879D-28B0A279BA7A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814906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מונת שקופית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מציין מיקום של הערות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1BBB24-0A24-42C6-879D-28B0A279BA7A}" type="slidenum">
              <a:rPr lang="he-IL" smtClean="0"/>
              <a:t>1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224289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1BBB24-0A24-42C6-879D-28B0A279BA7A}" type="slidenum">
              <a:rPr lang="he-IL" smtClean="0"/>
              <a:t>3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0705527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e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31BBB24-0A24-42C6-879D-28B0A279BA7A}" type="slidenum">
              <a:rPr lang="he-IL" smtClean="0"/>
              <a:t>5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6381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1">
            <a:extLst>
              <a:ext uri="{FF2B5EF4-FFF2-40B4-BE49-F238E27FC236}">
                <a16:creationId xmlns:a16="http://schemas.microsoft.com/office/drawing/2014/main" id="{C4802ECC-8E46-5B90-6B4A-7D6CD9E511D3}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2">
            <a:extLst>
              <a:ext uri="{FF2B5EF4-FFF2-40B4-BE49-F238E27FC236}">
                <a16:creationId xmlns:a16="http://schemas.microsoft.com/office/drawing/2014/main" id="{CAF4658D-EDDF-4E11-5E64-5469B9DE49AD}"/>
              </a:ext>
            </a:extLst>
          </p:cNvPr>
          <p:cNvSpPr/>
          <p:nvPr userDrawn="1"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תמונה 5">
            <a:extLst>
              <a:ext uri="{FF2B5EF4-FFF2-40B4-BE49-F238E27FC236}">
                <a16:creationId xmlns:a16="http://schemas.microsoft.com/office/drawing/2014/main" id="{A41616AB-1036-DC07-4FA4-A1DE74BBC9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>
                        <a14:foregroundMark x1="72070" y1="52930" x2="72070" y2="52930"/>
                        <a14:foregroundMark x1="67383" y1="45410" x2="67383" y2="45410"/>
                        <a14:foregroundMark x1="63932" y1="43262" x2="63932" y2="43262"/>
                        <a14:foregroundMark x1="63932" y1="48242" x2="63932" y2="48242"/>
                        <a14:foregroundMark x1="61523" y1="47070" x2="61523" y2="47070"/>
                        <a14:foregroundMark x1="54492" y1="47754" x2="54492" y2="47754"/>
                        <a14:foregroundMark x1="44727" y1="48926" x2="44727" y2="48926"/>
                        <a14:foregroundMark x1="33659" y1="38477" x2="33659" y2="38477"/>
                        <a14:foregroundMark x1="29688" y1="39160" x2="29688" y2="39160"/>
                        <a14:foregroundMark x1="29036" y1="43555" x2="29036" y2="43555"/>
                        <a14:backgroundMark x1="52799" y1="49609" x2="52799" y2="49609"/>
                      </a14:backgroundRemoval>
                    </a14:imgEffect>
                  </a14:imgLayer>
                </a14:imgProps>
              </a:ext>
            </a:extLst>
          </a:blip>
          <a:srcRect l="14025" t="26475" r="17256" b="34969"/>
          <a:stretch>
            <a:fillRect/>
          </a:stretch>
        </p:blipFill>
        <p:spPr>
          <a:xfrm>
            <a:off x="10308785" y="216871"/>
            <a:ext cx="1880040" cy="70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11356FB-3449-C087-CB48-12612347E7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0825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כותרת משנה 2">
            <a:extLst>
              <a:ext uri="{FF2B5EF4-FFF2-40B4-BE49-F238E27FC236}">
                <a16:creationId xmlns:a16="http://schemas.microsoft.com/office/drawing/2014/main" id="{E55AB349-E727-D9EE-8E15-B961FD070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0825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/>
              <a:t>לחץ כדי לערוך סגנון כותרת משנה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2AC221D-9344-CCA6-3A67-A9D52DDAC89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2E715F6A-65AB-0241-1E08-54E9D2FFB3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140C37EE-70C7-6A61-F201-78A2AEFE8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393982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E592A8F2-6AE2-9B3F-9082-59637A317D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251A6F1E-611B-26E9-3BBC-9C044FA3B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B4FD31D6-241C-C650-3890-A8F27E3BEE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B3BBFD1E-5DB8-6C1E-1F1E-E51E6084C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FAF10B43-5956-8332-9E01-3FDE8FF97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66294846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35209AB-8657-B459-77CD-1D2EA874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2425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3AE3A799-080B-17E7-47B2-4CCE777FDB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2425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667C4764-458A-A27B-DDA3-F8D37D8753D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62599D8B-63C9-5DFF-9F85-4E4B2AED3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44B81F3A-CD6C-40F0-29B6-4016C89067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255963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B15C8B0-4682-A5F3-593F-BD3C94F55D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0E51E8CB-FA3D-C909-1BDB-A72B72915D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0013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EB57178A-D529-981B-DD11-AD460E5F5F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0613" y="1825625"/>
            <a:ext cx="5180012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58B38CD-5A9C-1C4F-7F4B-F2593E442EA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6066072A-70FB-A731-C058-C2865AB19A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D10F59C7-4273-81FE-6FCB-84E16EC410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3859438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0B177AF-9567-B071-6137-105A60A9BF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טקסט 2">
            <a:extLst>
              <a:ext uri="{FF2B5EF4-FFF2-40B4-BE49-F238E27FC236}">
                <a16:creationId xmlns:a16="http://schemas.microsoft.com/office/drawing/2014/main" id="{540B28FC-E62A-41FA-750E-E758E85A8B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62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4" name="מציין מיקום תוכן 3">
            <a:extLst>
              <a:ext uri="{FF2B5EF4-FFF2-40B4-BE49-F238E27FC236}">
                <a16:creationId xmlns:a16="http://schemas.microsoft.com/office/drawing/2014/main" id="{4E05E55A-7F76-81F6-9360-0E937AF84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62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5" name="מציין מיקום טקסט 4">
            <a:extLst>
              <a:ext uri="{FF2B5EF4-FFF2-40B4-BE49-F238E27FC236}">
                <a16:creationId xmlns:a16="http://schemas.microsoft.com/office/drawing/2014/main" id="{85FCB60C-2480-8DDC-19B5-3CC02948F0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0613" y="1681163"/>
            <a:ext cx="5181600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6" name="מציין מיקום תוכן 5">
            <a:extLst>
              <a:ext uri="{FF2B5EF4-FFF2-40B4-BE49-F238E27FC236}">
                <a16:creationId xmlns:a16="http://schemas.microsoft.com/office/drawing/2014/main" id="{A301A1C5-3EA4-DE32-3127-B0F5426195C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0613" y="2505075"/>
            <a:ext cx="5181600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7" name="מציין מיקום של תאריך 6">
            <a:extLst>
              <a:ext uri="{FF2B5EF4-FFF2-40B4-BE49-F238E27FC236}">
                <a16:creationId xmlns:a16="http://schemas.microsoft.com/office/drawing/2014/main" id="{158288EE-69B9-F028-154B-2115F6069E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8" name="מציין מיקום של כותרת תחתונה 7">
            <a:extLst>
              <a:ext uri="{FF2B5EF4-FFF2-40B4-BE49-F238E27FC236}">
                <a16:creationId xmlns:a16="http://schemas.microsoft.com/office/drawing/2014/main" id="{F6E07668-3814-E63D-02AF-4E5BC269A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>
            <a:extLst>
              <a:ext uri="{FF2B5EF4-FFF2-40B4-BE49-F238E27FC236}">
                <a16:creationId xmlns:a16="http://schemas.microsoft.com/office/drawing/2014/main" id="{5F88D0EC-1AD2-3EFA-9787-EBF512251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19853697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67BED230-B3B1-FFBC-A44B-05FAE2A9C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אריך 2">
            <a:extLst>
              <a:ext uri="{FF2B5EF4-FFF2-40B4-BE49-F238E27FC236}">
                <a16:creationId xmlns:a16="http://schemas.microsoft.com/office/drawing/2014/main" id="{70B22D37-9C85-0B00-0535-35994129A2F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4" name="מציין מיקום של כותרת תחתונה 3">
            <a:extLst>
              <a:ext uri="{FF2B5EF4-FFF2-40B4-BE49-F238E27FC236}">
                <a16:creationId xmlns:a16="http://schemas.microsoft.com/office/drawing/2014/main" id="{081DC1F2-7247-213F-BBDA-60EBE0826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>
            <a:extLst>
              <a:ext uri="{FF2B5EF4-FFF2-40B4-BE49-F238E27FC236}">
                <a16:creationId xmlns:a16="http://schemas.microsoft.com/office/drawing/2014/main" id="{EC9667E0-0F8F-AC99-59B9-35366A97CC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7997027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>
            <a:extLst>
              <a:ext uri="{FF2B5EF4-FFF2-40B4-BE49-F238E27FC236}">
                <a16:creationId xmlns:a16="http://schemas.microsoft.com/office/drawing/2014/main" id="{6EEB8A46-649B-8872-81E6-9B85956D17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3" name="מציין מיקום של כותרת תחתונה 2">
            <a:extLst>
              <a:ext uri="{FF2B5EF4-FFF2-40B4-BE49-F238E27FC236}">
                <a16:creationId xmlns:a16="http://schemas.microsoft.com/office/drawing/2014/main" id="{6305E236-2C2C-178F-1FDE-3D36E616E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>
            <a:extLst>
              <a:ext uri="{FF2B5EF4-FFF2-40B4-BE49-F238E27FC236}">
                <a16:creationId xmlns:a16="http://schemas.microsoft.com/office/drawing/2014/main" id="{020B8611-A23E-B699-02A5-EE49B1F89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5768732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D3625F3-68B5-604A-D199-BD188291C2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603098BE-A9DB-5A94-CF04-84CC31DCD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92B30951-BBD5-BAE9-C94E-B1BF0933A4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FDED4513-DD52-6FF0-BD44-55F5DEBBE59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EE1198FF-4A62-FEEB-9915-B194FDF97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5831835D-8E68-F433-2C7F-A74777841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04697690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43B53486-7464-2052-CB3A-40AF2A421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065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תמונה 2">
            <a:extLst>
              <a:ext uri="{FF2B5EF4-FFF2-40B4-BE49-F238E27FC236}">
                <a16:creationId xmlns:a16="http://schemas.microsoft.com/office/drawing/2014/main" id="{29C582FC-E521-3599-2D08-394D43B625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1600" y="987425"/>
            <a:ext cx="6170613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>
            <a:extLst>
              <a:ext uri="{FF2B5EF4-FFF2-40B4-BE49-F238E27FC236}">
                <a16:creationId xmlns:a16="http://schemas.microsoft.com/office/drawing/2014/main" id="{EFB102D0-63E0-7E16-BDAB-1EF15B7777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0650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/>
              <a:t>לחץ כדי לערוך סגנונות טקסט של תבנית בסיס</a:t>
            </a:r>
          </a:p>
        </p:txBody>
      </p:sp>
      <p:sp>
        <p:nvSpPr>
          <p:cNvPr id="5" name="מציין מיקום של תאריך 4">
            <a:extLst>
              <a:ext uri="{FF2B5EF4-FFF2-40B4-BE49-F238E27FC236}">
                <a16:creationId xmlns:a16="http://schemas.microsoft.com/office/drawing/2014/main" id="{E076687C-757C-A1A6-31DF-16B350003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6" name="מציין מיקום של כותרת תחתונה 5">
            <a:extLst>
              <a:ext uri="{FF2B5EF4-FFF2-40B4-BE49-F238E27FC236}">
                <a16:creationId xmlns:a16="http://schemas.microsoft.com/office/drawing/2014/main" id="{FA58932F-9E6F-3F13-5510-1205C4EA9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>
            <a:extLst>
              <a:ext uri="{FF2B5EF4-FFF2-40B4-BE49-F238E27FC236}">
                <a16:creationId xmlns:a16="http://schemas.microsoft.com/office/drawing/2014/main" id="{3239BAA9-E200-740C-0908-D817D38D87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1201137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BC91E5FF-E497-C9B3-FD3C-9F74DD8D5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2425" cy="1325563"/>
          </a:xfrm>
          <a:prstGeom prst="rect">
            <a:avLst/>
          </a:prstGeom>
        </p:spPr>
        <p:txBody>
          <a:bodyPr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A3694830-685F-1DFD-D47D-17832FA7FA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2425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7D827FA8-A709-7663-0B32-4D6C04902B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D9108FD4-4F9F-306D-F0A1-605111B585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B961B336-195D-6895-1B44-4ABC96DC1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1729271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>
            <a:extLst>
              <a:ext uri="{FF2B5EF4-FFF2-40B4-BE49-F238E27FC236}">
                <a16:creationId xmlns:a16="http://schemas.microsoft.com/office/drawing/2014/main" id="{4EFDC797-5F5B-AC9B-0EE7-E0731E4A82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3313" y="365125"/>
            <a:ext cx="2627312" cy="5811838"/>
          </a:xfrm>
          <a:prstGeom prst="rect">
            <a:avLst/>
          </a:prstGeom>
        </p:spPr>
        <p:txBody>
          <a:bodyPr vert="eaVert"/>
          <a:lstStyle/>
          <a:p>
            <a:r>
              <a:rPr lang="he-IL"/>
              <a:t>לחץ כדי לערוך סגנון כותרת של תבנית בסיס</a:t>
            </a:r>
          </a:p>
        </p:txBody>
      </p:sp>
      <p:sp>
        <p:nvSpPr>
          <p:cNvPr id="3" name="מציין מיקום של טקסט אנכי 2">
            <a:extLst>
              <a:ext uri="{FF2B5EF4-FFF2-40B4-BE49-F238E27FC236}">
                <a16:creationId xmlns:a16="http://schemas.microsoft.com/office/drawing/2014/main" id="{C22AAA19-756E-9344-C455-8ADDEAEE54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2713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he-IL"/>
              <a:t>לחץ כדי לערוך סגנונות טקסט של תבנית בסיס</a:t>
            </a:r>
          </a:p>
          <a:p>
            <a:pPr lvl="1"/>
            <a:r>
              <a:rPr lang="he-IL"/>
              <a:t>רמה שנייה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</a:p>
        </p:txBody>
      </p:sp>
      <p:sp>
        <p:nvSpPr>
          <p:cNvPr id="4" name="מציין מיקום של תאריך 3">
            <a:extLst>
              <a:ext uri="{FF2B5EF4-FFF2-40B4-BE49-F238E27FC236}">
                <a16:creationId xmlns:a16="http://schemas.microsoft.com/office/drawing/2014/main" id="{CCD4601B-AFE0-E27A-6E4D-71092B5A91F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609013" y="6356350"/>
            <a:ext cx="2741612" cy="365125"/>
          </a:xfrm>
          <a:prstGeom prst="rect">
            <a:avLst/>
          </a:prstGeom>
        </p:spPr>
        <p:txBody>
          <a:bodyPr/>
          <a:lstStyle/>
          <a:p>
            <a:fld id="{D4CFDC03-01ED-48F9-9EB6-D7E3CA119FD4}" type="datetimeFigureOut">
              <a:rPr lang="he-IL" smtClean="0"/>
              <a:t>י"ז/סיון/תשפ"ו</a:t>
            </a:fld>
            <a:endParaRPr lang="he-IL"/>
          </a:p>
        </p:txBody>
      </p:sp>
      <p:sp>
        <p:nvSpPr>
          <p:cNvPr id="5" name="מציין מיקום של כותרת תחתונה 4">
            <a:extLst>
              <a:ext uri="{FF2B5EF4-FFF2-40B4-BE49-F238E27FC236}">
                <a16:creationId xmlns:a16="http://schemas.microsoft.com/office/drawing/2014/main" id="{529358C8-77BA-C1CE-E993-623717030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7013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>
            <a:extLst>
              <a:ext uri="{FF2B5EF4-FFF2-40B4-BE49-F238E27FC236}">
                <a16:creationId xmlns:a16="http://schemas.microsoft.com/office/drawing/2014/main" id="{34B1B3AA-D4E7-32E5-A7F2-A80ABF46A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38200" y="6356350"/>
            <a:ext cx="2741613" cy="365125"/>
          </a:xfrm>
          <a:prstGeom prst="rect">
            <a:avLst/>
          </a:prstGeom>
        </p:spPr>
        <p:txBody>
          <a:bodyPr/>
          <a:lstStyle/>
          <a:p>
            <a:fld id="{FEADB6DE-5916-4824-8128-0CC2DB2F28C6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580599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1">
            <a:extLst>
              <a:ext uri="{FF2B5EF4-FFF2-40B4-BE49-F238E27FC236}">
                <a16:creationId xmlns:a16="http://schemas.microsoft.com/office/drawing/2014/main" id="{2642BB75-928C-2465-BE65-BD2ABDA0FE1A}"/>
              </a:ext>
            </a:extLst>
          </p:cNvPr>
          <p:cNvSpPr/>
          <p:nvPr userDrawn="1"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4484896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3145536"/>
            <a:ext cx="12188952" cy="5486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65276" y="669426"/>
            <a:ext cx="100584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800" b="1" dirty="0">
                <a:solidFill>
                  <a:srgbClr val="1E1E2E"/>
                </a:solidFill>
              </a:rPr>
              <a:t>Medify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5276" y="2254209"/>
            <a:ext cx="1005840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Smart Medication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" y="3691292"/>
            <a:ext cx="100584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solidFill>
                  <a:srgbClr val="1A73E8"/>
                </a:solidFill>
              </a:rPr>
              <a:t>By Netta Spivak &amp; Roy Tomer</a:t>
            </a:r>
          </a:p>
        </p:txBody>
      </p:sp>
      <p:pic>
        <p:nvPicPr>
          <p:cNvPr id="9" name="תמונה 8">
            <a:extLst>
              <a:ext uri="{FF2B5EF4-FFF2-40B4-BE49-F238E27FC236}">
                <a16:creationId xmlns:a16="http://schemas.microsoft.com/office/drawing/2014/main" id="{1F8E8C66-080A-E5AF-01E9-9AD61B8D74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>
                        <a14:foregroundMark x1="72070" y1="52930" x2="72070" y2="52930"/>
                        <a14:foregroundMark x1="67383" y1="45410" x2="67383" y2="45410"/>
                        <a14:foregroundMark x1="63932" y1="43262" x2="63932" y2="43262"/>
                        <a14:foregroundMark x1="63932" y1="48242" x2="63932" y2="48242"/>
                        <a14:foregroundMark x1="61523" y1="47070" x2="61523" y2="47070"/>
                        <a14:foregroundMark x1="54492" y1="47754" x2="54492" y2="47754"/>
                        <a14:foregroundMark x1="44727" y1="48926" x2="44727" y2="48926"/>
                        <a14:foregroundMark x1="33659" y1="38477" x2="33659" y2="38477"/>
                        <a14:foregroundMark x1="29688" y1="39160" x2="29688" y2="39160"/>
                        <a14:foregroundMark x1="29036" y1="43555" x2="29036" y2="43555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86443" y="4315969"/>
            <a:ext cx="3815939" cy="2543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Why medication management is a critical challenge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F95B50B-629A-D286-A87D-95CB175A3731}"/>
              </a:ext>
            </a:extLst>
          </p:cNvPr>
          <p:cNvSpPr txBox="1"/>
          <p:nvPr/>
        </p:nvSpPr>
        <p:spPr>
          <a:xfrm>
            <a:off x="406525" y="1373301"/>
            <a:ext cx="11375774" cy="3181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SzPct val="130000"/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srgbClr val="1E1E2E"/>
                </a:solidFill>
              </a:rPr>
              <a:t>Patients taking multiple medications face high risk of missed or incorrect intake</a:t>
            </a:r>
          </a:p>
          <a:p>
            <a:pPr marL="285750" indent="-285750">
              <a:lnSpc>
                <a:spcPct val="200000"/>
              </a:lnSpc>
              <a:buSzPct val="130000"/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srgbClr val="1E1E2E"/>
                </a:solidFill>
              </a:rPr>
              <a:t>Passive solutions (pill organizers) provide no reminders or confirmation</a:t>
            </a:r>
          </a:p>
          <a:p>
            <a:pPr marL="285750" indent="-285750">
              <a:lnSpc>
                <a:spcPct val="200000"/>
              </a:lnSpc>
              <a:buSzPct val="130000"/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srgbClr val="1E1E2E"/>
                </a:solidFill>
              </a:rPr>
              <a:t>Complex apps are not suitable for elderly or cognitively impaired users</a:t>
            </a:r>
            <a:endParaRPr lang="he-IL" sz="2600" dirty="0">
              <a:solidFill>
                <a:srgbClr val="1E1E2E"/>
              </a:solidFill>
            </a:endParaRPr>
          </a:p>
          <a:p>
            <a:pPr marL="285750" indent="-285750">
              <a:lnSpc>
                <a:spcPct val="200000"/>
              </a:lnSpc>
              <a:buSzPct val="130000"/>
              <a:buFont typeface="Arial" panose="020B0604020202020204" pitchFamily="34" charset="0"/>
              <a:buChar char="•"/>
            </a:pPr>
            <a:r>
              <a:rPr lang="en-US" sz="2600" dirty="0">
                <a:solidFill>
                  <a:srgbClr val="1E1E2E"/>
                </a:solidFill>
              </a:rPr>
              <a:t>Caregivers and family members have no visibility into daily intake compliance</a:t>
            </a:r>
            <a:endParaRPr lang="en-US" sz="2600" b="0" dirty="0">
              <a:solidFill>
                <a:srgbClr val="1E1E2E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5770A9-FEE2-5207-7E64-90E00F83A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C9F6B059-40C9-1ACA-8CD8-23DA5242F286}"/>
              </a:ext>
            </a:extLst>
          </p:cNvPr>
          <p:cNvSpPr txBox="1"/>
          <p:nvPr/>
        </p:nvSpPr>
        <p:spPr>
          <a:xfrm>
            <a:off x="365760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C824D-29DA-A456-B466-A01EA164E53F}"/>
              </a:ext>
            </a:extLst>
          </p:cNvPr>
          <p:cNvSpPr txBox="1"/>
          <p:nvPr/>
        </p:nvSpPr>
        <p:spPr>
          <a:xfrm>
            <a:off x="365760" y="7498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sz="2000" dirty="0"/>
              <a:t>Bridging the gap between prescriptions and actual intake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E4D879-9172-5A5D-0D62-52403398CFB6}"/>
              </a:ext>
            </a:extLst>
          </p:cNvPr>
          <p:cNvSpPr txBox="1"/>
          <p:nvPr/>
        </p:nvSpPr>
        <p:spPr>
          <a:xfrm>
            <a:off x="548640" y="1417320"/>
            <a:ext cx="1133856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rgbClr val="1E1E2E"/>
                </a:solidFill>
              </a:rPr>
              <a:t>From passive reminders to active medication management</a:t>
            </a:r>
            <a:endParaRPr lang="en-US" sz="2800" dirty="0">
              <a:solidFill>
                <a:srgbClr val="1E1E2E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A9BB-633C-3F0D-0AB6-73A14560841F}"/>
              </a:ext>
            </a:extLst>
          </p:cNvPr>
          <p:cNvSpPr txBox="1"/>
          <p:nvPr/>
        </p:nvSpPr>
        <p:spPr>
          <a:xfrm>
            <a:off x="315091" y="2020824"/>
            <a:ext cx="11558643" cy="30310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600" dirty="0">
                <a:solidFill>
                  <a:srgbClr val="1E1E2E"/>
                </a:solidFill>
              </a:rPr>
              <a:t>Medify is a smart medication management system that combines a smart pill box with a mobile application to help patients take the right medication at the right time.</a:t>
            </a:r>
          </a:p>
          <a:p>
            <a:pPr>
              <a:lnSpc>
                <a:spcPct val="150000"/>
              </a:lnSpc>
            </a:pPr>
            <a:r>
              <a:rPr lang="en-US" sz="2600" dirty="0">
                <a:solidFill>
                  <a:srgbClr val="1E1E2E"/>
                </a:solidFill>
              </a:rPr>
              <a:t>The system actively guides and monitors the medication intake process</a:t>
            </a:r>
            <a:br>
              <a:rPr lang="en-US" sz="2600" dirty="0">
                <a:solidFill>
                  <a:srgbClr val="1E1E2E"/>
                </a:solidFill>
              </a:rPr>
            </a:br>
            <a:r>
              <a:rPr lang="en-US" sz="2600" dirty="0">
                <a:solidFill>
                  <a:srgbClr val="1E1E2E"/>
                </a:solidFill>
              </a:rPr>
              <a:t>from medication management, reminders and caregiver alerts to medication dispensing.</a:t>
            </a:r>
          </a:p>
        </p:txBody>
      </p:sp>
    </p:spTree>
    <p:extLst>
      <p:ext uri="{BB962C8B-B14F-4D97-AF65-F5344CB8AC3E}">
        <p14:creationId xmlns:p14="http://schemas.microsoft.com/office/powerpoint/2010/main" val="31016394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Key Features</a:t>
            </a:r>
          </a:p>
        </p:txBody>
      </p:sp>
      <p:sp>
        <p:nvSpPr>
          <p:cNvPr id="30" name="Rectangle 5">
            <a:extLst>
              <a:ext uri="{FF2B5EF4-FFF2-40B4-BE49-F238E27FC236}">
                <a16:creationId xmlns:a16="http://schemas.microsoft.com/office/drawing/2014/main" id="{5BFC09BB-8BD5-79CD-9AAA-A08E661D3B4D}"/>
              </a:ext>
            </a:extLst>
          </p:cNvPr>
          <p:cNvSpPr/>
          <p:nvPr/>
        </p:nvSpPr>
        <p:spPr>
          <a:xfrm>
            <a:off x="457200" y="1463039"/>
            <a:ext cx="11247120" cy="1689513"/>
          </a:xfrm>
          <a:prstGeom prst="rect">
            <a:avLst/>
          </a:prstGeom>
          <a:solidFill>
            <a:srgbClr val="FFFF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6">
            <a:extLst>
              <a:ext uri="{FF2B5EF4-FFF2-40B4-BE49-F238E27FC236}">
                <a16:creationId xmlns:a16="http://schemas.microsoft.com/office/drawing/2014/main" id="{D07D2D7D-F7EF-B543-7BB1-80E420013B24}"/>
              </a:ext>
            </a:extLst>
          </p:cNvPr>
          <p:cNvSpPr txBox="1"/>
          <p:nvPr/>
        </p:nvSpPr>
        <p:spPr>
          <a:xfrm>
            <a:off x="685800" y="1536192"/>
            <a:ext cx="320040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dirty="0">
                <a:solidFill>
                  <a:srgbClr val="1A73E8"/>
                </a:solidFill>
              </a:rPr>
              <a:t>Smart Pill Box</a:t>
            </a:r>
          </a:p>
        </p:txBody>
      </p:sp>
      <p:sp>
        <p:nvSpPr>
          <p:cNvPr id="32" name="TextBox 7">
            <a:extLst>
              <a:ext uri="{FF2B5EF4-FFF2-40B4-BE49-F238E27FC236}">
                <a16:creationId xmlns:a16="http://schemas.microsoft.com/office/drawing/2014/main" id="{F93B8371-8C3F-F5AA-C94F-DF7ECDCF4D27}"/>
              </a:ext>
            </a:extLst>
          </p:cNvPr>
          <p:cNvSpPr txBox="1"/>
          <p:nvPr/>
        </p:nvSpPr>
        <p:spPr>
          <a:xfrm>
            <a:off x="685800" y="2090503"/>
            <a:ext cx="105156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sz="2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Automatically dispenses medication at scheduled times after user approval</a:t>
            </a:r>
            <a:r>
              <a:rPr lang="en-US" sz="22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Using Sensor to identify when all of the medications were taken.</a:t>
            </a:r>
            <a:endParaRPr sz="2200" b="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33" name="Rectangle 8">
            <a:extLst>
              <a:ext uri="{FF2B5EF4-FFF2-40B4-BE49-F238E27FC236}">
                <a16:creationId xmlns:a16="http://schemas.microsoft.com/office/drawing/2014/main" id="{2B1B0A0A-3A7B-4766-E003-D81D75B0446B}"/>
              </a:ext>
            </a:extLst>
          </p:cNvPr>
          <p:cNvSpPr/>
          <p:nvPr/>
        </p:nvSpPr>
        <p:spPr>
          <a:xfrm>
            <a:off x="457200" y="3609753"/>
            <a:ext cx="11247120" cy="2440173"/>
          </a:xfrm>
          <a:prstGeom prst="rect">
            <a:avLst/>
          </a:prstGeom>
          <a:solidFill>
            <a:srgbClr val="FFFFFF"/>
          </a:solidFill>
          <a:ln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9">
            <a:extLst>
              <a:ext uri="{FF2B5EF4-FFF2-40B4-BE49-F238E27FC236}">
                <a16:creationId xmlns:a16="http://schemas.microsoft.com/office/drawing/2014/main" id="{2C5AA9C0-6DDC-F4D8-CB25-E54CDB5D5C1A}"/>
              </a:ext>
            </a:extLst>
          </p:cNvPr>
          <p:cNvSpPr txBox="1"/>
          <p:nvPr/>
        </p:nvSpPr>
        <p:spPr>
          <a:xfrm>
            <a:off x="685800" y="3780016"/>
            <a:ext cx="4428460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600" b="1" dirty="0">
                <a:solidFill>
                  <a:srgbClr val="1A73E8"/>
                </a:solidFill>
              </a:rPr>
              <a:t>medication management </a:t>
            </a:r>
            <a:endParaRPr sz="2600" b="1" dirty="0">
              <a:solidFill>
                <a:srgbClr val="1A73E8"/>
              </a:solidFill>
            </a:endParaRPr>
          </a:p>
        </p:txBody>
      </p:sp>
      <p:sp>
        <p:nvSpPr>
          <p:cNvPr id="35" name="TextBox 10">
            <a:extLst>
              <a:ext uri="{FF2B5EF4-FFF2-40B4-BE49-F238E27FC236}">
                <a16:creationId xmlns:a16="http://schemas.microsoft.com/office/drawing/2014/main" id="{5F3E5BC1-42DE-291B-E7D2-0CC8DA777F1F}"/>
              </a:ext>
            </a:extLst>
          </p:cNvPr>
          <p:cNvSpPr txBox="1"/>
          <p:nvPr/>
        </p:nvSpPr>
        <p:spPr>
          <a:xfrm>
            <a:off x="723014" y="4322136"/>
            <a:ext cx="10478386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Real-time mobile reminders when an intake window opens.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Intake approval via app or physical device button.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Pre intake reminders.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Caregiver view, for monitoring intake or missed intakes of the patient.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FFFFFF"/>
                </a:solidFill>
              </a:rPr>
              <a:t>System Architecture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B33E4172-9B1D-1B1B-DE00-F6B19BD6ADAE}"/>
              </a:ext>
            </a:extLst>
          </p:cNvPr>
          <p:cNvGrpSpPr/>
          <p:nvPr/>
        </p:nvGrpSpPr>
        <p:grpSpPr>
          <a:xfrm>
            <a:off x="711192" y="1847948"/>
            <a:ext cx="3200400" cy="1097280"/>
            <a:chOff x="135246" y="3300982"/>
            <a:chExt cx="3200400" cy="1097280"/>
          </a:xfrm>
        </p:grpSpPr>
        <p:sp>
          <p:nvSpPr>
            <p:cNvPr id="5" name="Rectangle 4"/>
            <p:cNvSpPr/>
            <p:nvPr/>
          </p:nvSpPr>
          <p:spPr>
            <a:xfrm>
              <a:off x="135246" y="3300982"/>
              <a:ext cx="3200400" cy="1097280"/>
            </a:xfrm>
            <a:prstGeom prst="rect">
              <a:avLst/>
            </a:prstGeom>
            <a:solidFill>
              <a:srgbClr val="1A73E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26686" y="3392422"/>
              <a:ext cx="298434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FFFFFF"/>
                  </a:solidFill>
                </a:rPr>
                <a:t>Smart Pill Box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226686" y="3881520"/>
              <a:ext cx="3021561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b="0" dirty="0">
                  <a:solidFill>
                    <a:srgbClr val="CCDDFF"/>
                  </a:solidFill>
                </a:rPr>
                <a:t>Arduino / C++</a:t>
              </a: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ECB1B3F-2555-136F-9BE2-182B802D9685}"/>
              </a:ext>
            </a:extLst>
          </p:cNvPr>
          <p:cNvGrpSpPr/>
          <p:nvPr/>
        </p:nvGrpSpPr>
        <p:grpSpPr>
          <a:xfrm>
            <a:off x="4494212" y="3404838"/>
            <a:ext cx="3200400" cy="1097280"/>
            <a:chOff x="4023360" y="1469579"/>
            <a:chExt cx="3200400" cy="1097280"/>
          </a:xfrm>
        </p:grpSpPr>
        <p:sp>
          <p:nvSpPr>
            <p:cNvPr id="8" name="Rectangle 7"/>
            <p:cNvSpPr/>
            <p:nvPr/>
          </p:nvSpPr>
          <p:spPr>
            <a:xfrm>
              <a:off x="4023360" y="1469579"/>
              <a:ext cx="3200400" cy="1097280"/>
            </a:xfrm>
            <a:prstGeom prst="rect">
              <a:avLst/>
            </a:prstGeom>
            <a:solidFill>
              <a:srgbClr val="1E1E2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194542" y="1561019"/>
              <a:ext cx="283463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sz="2400" b="1" dirty="0">
                  <a:solidFill>
                    <a:srgbClr val="FFFFFF"/>
                  </a:solidFill>
                </a:rPr>
                <a:t>Backend Server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199856" y="2036507"/>
              <a:ext cx="28346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dirty="0">
                  <a:solidFill>
                    <a:srgbClr val="CCDDFF"/>
                  </a:solidFill>
                </a:rPr>
                <a:t>Java + </a:t>
              </a:r>
              <a:r>
                <a:rPr b="0" dirty="0">
                  <a:solidFill>
                    <a:srgbClr val="CCDDFF"/>
                  </a:solidFill>
                </a:rPr>
                <a:t>Spring Boot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F4F0688-C20C-5D8B-D01C-9FF30D23FF4F}"/>
              </a:ext>
            </a:extLst>
          </p:cNvPr>
          <p:cNvGrpSpPr/>
          <p:nvPr/>
        </p:nvGrpSpPr>
        <p:grpSpPr>
          <a:xfrm>
            <a:off x="4494212" y="5459172"/>
            <a:ext cx="3200400" cy="1097280"/>
            <a:chOff x="4114800" y="5427602"/>
            <a:chExt cx="3200400" cy="1097280"/>
          </a:xfrm>
        </p:grpSpPr>
        <p:sp>
          <p:nvSpPr>
            <p:cNvPr id="11" name="Rectangle 10"/>
            <p:cNvSpPr/>
            <p:nvPr/>
          </p:nvSpPr>
          <p:spPr>
            <a:xfrm>
              <a:off x="4114800" y="5427602"/>
              <a:ext cx="3200400" cy="1097280"/>
            </a:xfrm>
            <a:prstGeom prst="rect">
              <a:avLst/>
            </a:prstGeom>
            <a:solidFill>
              <a:srgbClr val="55657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296614" y="5519042"/>
              <a:ext cx="283463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FFFFF"/>
                  </a:solidFill>
                </a:rPr>
                <a:t>Database </a:t>
              </a:r>
              <a:endParaRPr sz="2400" b="1" dirty="0">
                <a:solidFill>
                  <a:srgbClr val="FFFFFF"/>
                </a:solidFill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285983" y="5994530"/>
              <a:ext cx="28346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0" dirty="0">
                  <a:solidFill>
                    <a:srgbClr val="CCDDFF"/>
                  </a:solidFill>
                </a:rPr>
                <a:t>PostgreSQL 15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AF7CB862-0CA6-5800-6A02-3E180568A6CA}"/>
              </a:ext>
            </a:extLst>
          </p:cNvPr>
          <p:cNvGrpSpPr/>
          <p:nvPr/>
        </p:nvGrpSpPr>
        <p:grpSpPr>
          <a:xfrm>
            <a:off x="8368674" y="1851660"/>
            <a:ext cx="3200400" cy="1213259"/>
            <a:chOff x="8758038" y="3383279"/>
            <a:chExt cx="3200400" cy="1213259"/>
          </a:xfrm>
        </p:grpSpPr>
        <p:sp>
          <p:nvSpPr>
            <p:cNvPr id="14" name="Rectangle 13"/>
            <p:cNvSpPr/>
            <p:nvPr/>
          </p:nvSpPr>
          <p:spPr>
            <a:xfrm>
              <a:off x="8758038" y="3383279"/>
              <a:ext cx="3200400" cy="1097280"/>
            </a:xfrm>
            <a:prstGeom prst="rect">
              <a:avLst/>
            </a:prstGeom>
            <a:solidFill>
              <a:srgbClr val="1A73E8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8849477" y="3474719"/>
              <a:ext cx="301752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400" b="1" dirty="0">
                  <a:solidFill>
                    <a:srgbClr val="FFFFFF"/>
                  </a:solidFill>
                </a:rPr>
                <a:t>Flutter </a:t>
              </a:r>
              <a:r>
                <a:rPr sz="2400" b="1" dirty="0">
                  <a:solidFill>
                    <a:srgbClr val="FFFFFF"/>
                  </a:solidFill>
                </a:rPr>
                <a:t>App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8849477" y="3950207"/>
              <a:ext cx="301752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b="0" dirty="0">
                  <a:solidFill>
                    <a:srgbClr val="CCDDFF"/>
                  </a:solidFill>
                </a:rPr>
                <a:t>Dart</a:t>
              </a:r>
              <a:r>
                <a:rPr lang="he-IL" b="0" dirty="0">
                  <a:solidFill>
                    <a:srgbClr val="CCDDFF"/>
                  </a:solidFill>
                </a:rPr>
                <a:t> </a:t>
              </a:r>
              <a:r>
                <a:rPr lang="en-US" b="0" dirty="0">
                  <a:solidFill>
                    <a:srgbClr val="CCDDFF"/>
                  </a:solidFill>
                </a:rPr>
                <a:t> + Flutter</a:t>
              </a:r>
              <a:endParaRPr lang="he-IL" b="0" dirty="0">
                <a:solidFill>
                  <a:srgbClr val="CCDDFF"/>
                </a:solidFill>
              </a:endParaRPr>
            </a:p>
            <a:p>
              <a:pPr algn="ctr"/>
              <a:endParaRPr b="0" dirty="0">
                <a:solidFill>
                  <a:srgbClr val="CCDDFF"/>
                </a:solidFill>
              </a:endParaRPr>
            </a:p>
          </p:txBody>
        </p:sp>
      </p:grpSp>
      <p:sp>
        <p:nvSpPr>
          <p:cNvPr id="18" name="TextBox 17"/>
          <p:cNvSpPr txBox="1"/>
          <p:nvPr/>
        </p:nvSpPr>
        <p:spPr>
          <a:xfrm rot="2772321">
            <a:off x="3784552" y="2655786"/>
            <a:ext cx="151606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dirty="0">
                <a:solidFill>
                  <a:srgbClr val="55657A"/>
                </a:solidFill>
              </a:rPr>
              <a:t>Wi-Fi / REST</a:t>
            </a:r>
          </a:p>
        </p:txBody>
      </p:sp>
      <p:sp>
        <p:nvSpPr>
          <p:cNvPr id="20" name="TextBox 19"/>
          <p:cNvSpPr txBox="1"/>
          <p:nvPr/>
        </p:nvSpPr>
        <p:spPr>
          <a:xfrm rot="19532987">
            <a:off x="7175877" y="2679140"/>
            <a:ext cx="118872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dirty="0">
                <a:solidFill>
                  <a:srgbClr val="55657A"/>
                </a:solidFill>
              </a:rPr>
              <a:t>REST API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AC5802E-FAC0-3DD4-6A69-38B2DCAF10DD}"/>
              </a:ext>
            </a:extLst>
          </p:cNvPr>
          <p:cNvCxnSpPr>
            <a:cxnSpLocks/>
          </p:cNvCxnSpPr>
          <p:nvPr/>
        </p:nvCxnSpPr>
        <p:spPr>
          <a:xfrm flipH="1">
            <a:off x="7461292" y="2748732"/>
            <a:ext cx="842348" cy="55301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22FE87EA-E448-B0E2-9725-6CEB7871B05F}"/>
              </a:ext>
            </a:extLst>
          </p:cNvPr>
          <p:cNvCxnSpPr/>
          <p:nvPr/>
        </p:nvCxnSpPr>
        <p:spPr>
          <a:xfrm>
            <a:off x="3943596" y="2709199"/>
            <a:ext cx="671764" cy="664535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48A90D20-8D6E-B957-D665-E9982B4A13E6}"/>
              </a:ext>
            </a:extLst>
          </p:cNvPr>
          <p:cNvCxnSpPr/>
          <p:nvPr/>
        </p:nvCxnSpPr>
        <p:spPr>
          <a:xfrm>
            <a:off x="6093345" y="4593265"/>
            <a:ext cx="0" cy="824023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A13A43A7-C2B7-202F-BFB7-397ABB1623B7}"/>
              </a:ext>
            </a:extLst>
          </p:cNvPr>
          <p:cNvCxnSpPr/>
          <p:nvPr/>
        </p:nvCxnSpPr>
        <p:spPr>
          <a:xfrm>
            <a:off x="4003158" y="2009553"/>
            <a:ext cx="4300482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1C9A233-5474-651D-3623-31DCD51D793D}"/>
              </a:ext>
            </a:extLst>
          </p:cNvPr>
          <p:cNvSpPr txBox="1"/>
          <p:nvPr/>
        </p:nvSpPr>
        <p:spPr>
          <a:xfrm>
            <a:off x="5315372" y="1608632"/>
            <a:ext cx="16760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dirty="0">
                <a:solidFill>
                  <a:srgbClr val="55657A"/>
                </a:solidFill>
              </a:rPr>
              <a:t>Wi-Fi / REST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57294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Choices and justifications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14075" y="1348739"/>
            <a:ext cx="2011680" cy="114389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259795" y="1495213"/>
            <a:ext cx="1920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Backend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9795" y="1919390"/>
            <a:ext cx="1920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b="0" dirty="0">
                <a:solidFill>
                  <a:srgbClr val="CCDDFF"/>
                </a:solidFill>
              </a:rPr>
              <a:t>Java + Spring Boot</a:t>
            </a:r>
          </a:p>
        </p:txBody>
      </p:sp>
      <p:sp>
        <p:nvSpPr>
          <p:cNvPr id="9" name="Rectangle 8"/>
          <p:cNvSpPr/>
          <p:nvPr/>
        </p:nvSpPr>
        <p:spPr>
          <a:xfrm>
            <a:off x="2391965" y="1348739"/>
            <a:ext cx="9582785" cy="1143894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10" name="TextBox 9"/>
          <p:cNvSpPr txBox="1"/>
          <p:nvPr/>
        </p:nvSpPr>
        <p:spPr>
          <a:xfrm>
            <a:off x="2493327" y="1352091"/>
            <a:ext cx="933460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200" b="0" dirty="0">
                <a:solidFill>
                  <a:srgbClr val="55657A"/>
                </a:solidFill>
              </a:rPr>
              <a:t>Java and Spring Boot provide a stable and proven environment for backend system development, with strong support for REST APIs, scheduling tasks, and database integration.</a:t>
            </a:r>
            <a:endParaRPr sz="2200" b="0" dirty="0">
              <a:solidFill>
                <a:srgbClr val="55657A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FE691B8-F198-A8C8-4B3D-12EB44DE24EE}"/>
              </a:ext>
            </a:extLst>
          </p:cNvPr>
          <p:cNvSpPr/>
          <p:nvPr/>
        </p:nvSpPr>
        <p:spPr>
          <a:xfrm>
            <a:off x="202381" y="2636405"/>
            <a:ext cx="2011680" cy="114389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4962601-9D31-A379-90CA-F71D500CE58A}"/>
              </a:ext>
            </a:extLst>
          </p:cNvPr>
          <p:cNvSpPr txBox="1"/>
          <p:nvPr/>
        </p:nvSpPr>
        <p:spPr>
          <a:xfrm>
            <a:off x="248101" y="2782879"/>
            <a:ext cx="1920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Frontend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38BD6B-C5AA-41B4-80F0-242BF9FC27AA}"/>
              </a:ext>
            </a:extLst>
          </p:cNvPr>
          <p:cNvSpPr txBox="1"/>
          <p:nvPr/>
        </p:nvSpPr>
        <p:spPr>
          <a:xfrm>
            <a:off x="248101" y="3207056"/>
            <a:ext cx="1920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CDDFF"/>
                </a:solidFill>
              </a:rPr>
              <a:t>Dart + Flutter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DD9D700-583A-8B47-AF55-4214956095A8}"/>
              </a:ext>
            </a:extLst>
          </p:cNvPr>
          <p:cNvSpPr/>
          <p:nvPr/>
        </p:nvSpPr>
        <p:spPr>
          <a:xfrm>
            <a:off x="2380271" y="2636405"/>
            <a:ext cx="9582785" cy="1143894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EC57BE5-4137-EB38-0B22-2DE751C9657E}"/>
              </a:ext>
            </a:extLst>
          </p:cNvPr>
          <p:cNvSpPr txBox="1"/>
          <p:nvPr/>
        </p:nvSpPr>
        <p:spPr>
          <a:xfrm>
            <a:off x="2481633" y="2746634"/>
            <a:ext cx="933460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55657A"/>
                </a:solidFill>
              </a:rPr>
              <a:t>Flutter enables development of a single cross-platform application for both Android and iOS, while providing fast performance and a modern, responsive UI.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1AF0C07-17D8-02A7-0FD3-1FDDD41867D7}"/>
              </a:ext>
            </a:extLst>
          </p:cNvPr>
          <p:cNvSpPr/>
          <p:nvPr/>
        </p:nvSpPr>
        <p:spPr>
          <a:xfrm>
            <a:off x="207964" y="3932699"/>
            <a:ext cx="2011680" cy="114389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F69AA3C-ED9F-520B-2A8D-A3BC6001978B}"/>
              </a:ext>
            </a:extLst>
          </p:cNvPr>
          <p:cNvSpPr txBox="1"/>
          <p:nvPr/>
        </p:nvSpPr>
        <p:spPr>
          <a:xfrm>
            <a:off x="253684" y="4079173"/>
            <a:ext cx="1920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Hardware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1E9664-13D7-1F47-CFA1-42F028BFFD2F}"/>
              </a:ext>
            </a:extLst>
          </p:cNvPr>
          <p:cNvSpPr txBox="1"/>
          <p:nvPr/>
        </p:nvSpPr>
        <p:spPr>
          <a:xfrm>
            <a:off x="253684" y="4503350"/>
            <a:ext cx="1920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CDDFF"/>
                </a:solidFill>
              </a:rPr>
              <a:t>Arduino / C++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1EB01A5-1CBC-91FA-FF43-34553D5D3D73}"/>
              </a:ext>
            </a:extLst>
          </p:cNvPr>
          <p:cNvSpPr/>
          <p:nvPr/>
        </p:nvSpPr>
        <p:spPr>
          <a:xfrm>
            <a:off x="2385854" y="3932699"/>
            <a:ext cx="9582785" cy="1143894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1D3267-3385-72FD-4335-2DBA58A92C0D}"/>
              </a:ext>
            </a:extLst>
          </p:cNvPr>
          <p:cNvSpPr txBox="1"/>
          <p:nvPr/>
        </p:nvSpPr>
        <p:spPr>
          <a:xfrm>
            <a:off x="2487216" y="3936051"/>
            <a:ext cx="933460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55657A"/>
                </a:solidFill>
              </a:rPr>
              <a:t>Arduino and C++ provide a simple and accessible platform for embedded systems development, with extensive hardware library support and precise control over the device’s behavior.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A5567A83-8097-6CDF-15ED-9A1E7BA8D2C1}"/>
              </a:ext>
            </a:extLst>
          </p:cNvPr>
          <p:cNvSpPr/>
          <p:nvPr/>
        </p:nvSpPr>
        <p:spPr>
          <a:xfrm>
            <a:off x="213547" y="5231381"/>
            <a:ext cx="2011680" cy="1143894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A2DB84-E54E-4824-F6FE-D9E8A2E3AA50}"/>
              </a:ext>
            </a:extLst>
          </p:cNvPr>
          <p:cNvSpPr txBox="1"/>
          <p:nvPr/>
        </p:nvSpPr>
        <p:spPr>
          <a:xfrm>
            <a:off x="259267" y="5377855"/>
            <a:ext cx="192024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5D4B02-A508-6FF9-B110-B48EEFE6E01E}"/>
              </a:ext>
            </a:extLst>
          </p:cNvPr>
          <p:cNvSpPr txBox="1"/>
          <p:nvPr/>
        </p:nvSpPr>
        <p:spPr>
          <a:xfrm>
            <a:off x="259267" y="5802032"/>
            <a:ext cx="19202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solidFill>
                  <a:srgbClr val="CCDDFF"/>
                </a:solidFill>
              </a:rPr>
              <a:t>PostgreSQL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50268F88-B9AA-A1BD-BE73-0C6348A8BE5F}"/>
              </a:ext>
            </a:extLst>
          </p:cNvPr>
          <p:cNvSpPr/>
          <p:nvPr/>
        </p:nvSpPr>
        <p:spPr>
          <a:xfrm>
            <a:off x="2391437" y="5231381"/>
            <a:ext cx="9582785" cy="1143894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3C15F9-649F-BC52-1F6F-C0A8D80C8E22}"/>
              </a:ext>
            </a:extLst>
          </p:cNvPr>
          <p:cNvSpPr txBox="1"/>
          <p:nvPr/>
        </p:nvSpPr>
        <p:spPr>
          <a:xfrm>
            <a:off x="2493327" y="5334159"/>
            <a:ext cx="933460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55657A"/>
                </a:solidFill>
              </a:rPr>
              <a:t>PostgreSQL provides reliable and consistent data management, while allowing easy schema management and smooth integration with Spring Boot.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dirty="0">
                <a:solidFill>
                  <a:srgbClr val="FFFFFF"/>
                </a:solidFill>
              </a:rPr>
              <a:t>Domain — Smart Pill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Arduino / C++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262" y="1367322"/>
            <a:ext cx="2829324" cy="1179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257753" y="1704172"/>
            <a:ext cx="26953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Medication Release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5FDBFC3-7018-C91F-7AB5-A71177BD087A}"/>
              </a:ext>
            </a:extLst>
          </p:cNvPr>
          <p:cNvSpPr/>
          <p:nvPr/>
        </p:nvSpPr>
        <p:spPr>
          <a:xfrm>
            <a:off x="182262" y="2661225"/>
            <a:ext cx="2829324" cy="1179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30BF3A-0F97-C4A4-5AA3-2F0C4E974CA9}"/>
              </a:ext>
            </a:extLst>
          </p:cNvPr>
          <p:cNvSpPr txBox="1"/>
          <p:nvPr/>
        </p:nvSpPr>
        <p:spPr>
          <a:xfrm>
            <a:off x="259879" y="2826028"/>
            <a:ext cx="2695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Compartment 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149E6A-22FB-1205-EAB1-A44D0F2CB8B4}"/>
              </a:ext>
            </a:extLst>
          </p:cNvPr>
          <p:cNvSpPr/>
          <p:nvPr/>
        </p:nvSpPr>
        <p:spPr>
          <a:xfrm>
            <a:off x="182262" y="3986494"/>
            <a:ext cx="2829324" cy="117957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B81900-0616-2154-B46F-236EBE648D5C}"/>
              </a:ext>
            </a:extLst>
          </p:cNvPr>
          <p:cNvSpPr txBox="1"/>
          <p:nvPr/>
        </p:nvSpPr>
        <p:spPr>
          <a:xfrm>
            <a:off x="259879" y="4135348"/>
            <a:ext cx="269535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Medication Loading Guidance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EF788AD-CA80-95AC-1412-11CD49439C57}"/>
              </a:ext>
            </a:extLst>
          </p:cNvPr>
          <p:cNvSpPr/>
          <p:nvPr/>
        </p:nvSpPr>
        <p:spPr>
          <a:xfrm>
            <a:off x="177561" y="5303149"/>
            <a:ext cx="2829324" cy="1180569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9ABB720-41A2-05C3-BD27-0336836158F0}"/>
              </a:ext>
            </a:extLst>
          </p:cNvPr>
          <p:cNvSpPr txBox="1"/>
          <p:nvPr/>
        </p:nvSpPr>
        <p:spPr>
          <a:xfrm>
            <a:off x="255178" y="5420105"/>
            <a:ext cx="2695353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Autonomous Operation</a:t>
            </a: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FDE454B0-FA59-BF84-DE63-0BE341CF3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528" y="1299164"/>
            <a:ext cx="2691345" cy="2723689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2886F2B8-C90B-E57F-82C0-AC6AB96069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8484"/>
          <a:stretch>
            <a:fillRect/>
          </a:stretch>
        </p:blipFill>
        <p:spPr>
          <a:xfrm>
            <a:off x="9375537" y="4151753"/>
            <a:ext cx="2688336" cy="2631313"/>
          </a:xfrm>
          <a:prstGeom prst="rect">
            <a:avLst/>
          </a:prstGeom>
        </p:spPr>
      </p:pic>
      <p:sp>
        <p:nvSpPr>
          <p:cNvPr id="2" name="Rectangle 8">
            <a:extLst>
              <a:ext uri="{FF2B5EF4-FFF2-40B4-BE49-F238E27FC236}">
                <a16:creationId xmlns:a16="http://schemas.microsoft.com/office/drawing/2014/main" id="{C728697D-66F0-73BF-3663-D3FF7611DEC2}"/>
              </a:ext>
            </a:extLst>
          </p:cNvPr>
          <p:cNvSpPr/>
          <p:nvPr/>
        </p:nvSpPr>
        <p:spPr>
          <a:xfrm>
            <a:off x="3141051" y="1361566"/>
            <a:ext cx="6061429" cy="1179576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8" name="TextBox 7"/>
          <p:cNvSpPr txBox="1"/>
          <p:nvPr/>
        </p:nvSpPr>
        <p:spPr>
          <a:xfrm>
            <a:off x="3160561" y="1358178"/>
            <a:ext cx="6024853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dirty="0">
                <a:solidFill>
                  <a:srgbClr val="55657A"/>
                </a:solidFill>
              </a:rPr>
              <a:t>Motor-driven mechanism releases medication into the intake compartment at scheduled times, after user approval</a:t>
            </a:r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77357D2B-9747-2701-944B-905ACC3BB027}"/>
              </a:ext>
            </a:extLst>
          </p:cNvPr>
          <p:cNvSpPr/>
          <p:nvPr/>
        </p:nvSpPr>
        <p:spPr>
          <a:xfrm>
            <a:off x="3141051" y="2661008"/>
            <a:ext cx="6061429" cy="1179576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8EC4C7-4B92-9106-75F8-7517745E4B15}"/>
              </a:ext>
            </a:extLst>
          </p:cNvPr>
          <p:cNvSpPr txBox="1"/>
          <p:nvPr/>
        </p:nvSpPr>
        <p:spPr>
          <a:xfrm>
            <a:off x="3160561" y="2664811"/>
            <a:ext cx="6024853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Sensor detects whether the intake compartment was emptied within the allowed time window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462BAD3-E009-70DE-0738-FEF12B3A0545}"/>
              </a:ext>
            </a:extLst>
          </p:cNvPr>
          <p:cNvSpPr/>
          <p:nvPr/>
        </p:nvSpPr>
        <p:spPr>
          <a:xfrm>
            <a:off x="3141050" y="3980177"/>
            <a:ext cx="6061429" cy="1179576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763E48-AF21-2CFC-9F20-C9396345D9B4}"/>
              </a:ext>
            </a:extLst>
          </p:cNvPr>
          <p:cNvSpPr txBox="1"/>
          <p:nvPr/>
        </p:nvSpPr>
        <p:spPr>
          <a:xfrm>
            <a:off x="3159337" y="3976374"/>
            <a:ext cx="6024853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LED indicators assist the user during medication setup by illuminating the correct compartments for each medication.</a:t>
            </a: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113E4A91-11D3-8177-C947-BD9D3FA8D7E7}"/>
              </a:ext>
            </a:extLst>
          </p:cNvPr>
          <p:cNvSpPr/>
          <p:nvPr/>
        </p:nvSpPr>
        <p:spPr>
          <a:xfrm>
            <a:off x="3141051" y="5300339"/>
            <a:ext cx="6061429" cy="1179576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0E0CB1-4C5B-3CAA-FA5F-883117384E13}"/>
              </a:ext>
            </a:extLst>
          </p:cNvPr>
          <p:cNvSpPr txBox="1"/>
          <p:nvPr/>
        </p:nvSpPr>
        <p:spPr>
          <a:xfrm>
            <a:off x="3159339" y="5300339"/>
            <a:ext cx="6024853" cy="1179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Continues functioning independently even when the patient's phone is not nearby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CDA78-5724-BE98-402A-6DEAB8D6C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760CFB1-2948-C71F-85AA-DEDC5594A39D}"/>
              </a:ext>
            </a:extLst>
          </p:cNvPr>
          <p:cNvSpPr txBox="1"/>
          <p:nvPr/>
        </p:nvSpPr>
        <p:spPr>
          <a:xfrm>
            <a:off x="365760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Domain — Mobile Application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AEE373-F66A-66A9-BCB2-8177D2C4B59D}"/>
              </a:ext>
            </a:extLst>
          </p:cNvPr>
          <p:cNvSpPr txBox="1"/>
          <p:nvPr/>
        </p:nvSpPr>
        <p:spPr>
          <a:xfrm>
            <a:off x="365760" y="7498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Flutter + Dart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6E3A92-F874-0C4A-CB48-B18DDB2983EF}"/>
              </a:ext>
            </a:extLst>
          </p:cNvPr>
          <p:cNvSpPr/>
          <p:nvPr/>
        </p:nvSpPr>
        <p:spPr>
          <a:xfrm>
            <a:off x="108365" y="1489049"/>
            <a:ext cx="2423160" cy="1982473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253218-B163-43BC-8870-1C319F2E8FC9}"/>
              </a:ext>
            </a:extLst>
          </p:cNvPr>
          <p:cNvSpPr txBox="1"/>
          <p:nvPr/>
        </p:nvSpPr>
        <p:spPr>
          <a:xfrm>
            <a:off x="173120" y="2015068"/>
            <a:ext cx="22774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>
                <a:solidFill>
                  <a:srgbClr val="FFFFFF"/>
                </a:solidFill>
              </a:rPr>
              <a:t>Medication </a:t>
            </a:r>
            <a:r>
              <a:rPr lang="en-US" sz="2400" b="1" dirty="0">
                <a:solidFill>
                  <a:srgbClr val="FFFFFF"/>
                </a:solidFill>
              </a:rPr>
              <a:t>Management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B482364-1480-22FE-D651-BB35019ADC7C}"/>
              </a:ext>
            </a:extLst>
          </p:cNvPr>
          <p:cNvSpPr/>
          <p:nvPr/>
        </p:nvSpPr>
        <p:spPr>
          <a:xfrm>
            <a:off x="108365" y="3684314"/>
            <a:ext cx="2424523" cy="964056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D3238C3-943C-E477-E067-2D58B1A83888}"/>
              </a:ext>
            </a:extLst>
          </p:cNvPr>
          <p:cNvSpPr txBox="1"/>
          <p:nvPr/>
        </p:nvSpPr>
        <p:spPr>
          <a:xfrm>
            <a:off x="190660" y="3750843"/>
            <a:ext cx="225993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Accessible Experience</a:t>
            </a:r>
          </a:p>
        </p:txBody>
      </p:sp>
      <p:sp>
        <p:nvSpPr>
          <p:cNvPr id="2" name="Rectangle 8">
            <a:extLst>
              <a:ext uri="{FF2B5EF4-FFF2-40B4-BE49-F238E27FC236}">
                <a16:creationId xmlns:a16="http://schemas.microsoft.com/office/drawing/2014/main" id="{544A5356-E067-6836-6379-B97E460A57DD}"/>
              </a:ext>
            </a:extLst>
          </p:cNvPr>
          <p:cNvSpPr/>
          <p:nvPr/>
        </p:nvSpPr>
        <p:spPr>
          <a:xfrm>
            <a:off x="2699529" y="1489049"/>
            <a:ext cx="3655551" cy="1982474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DBEE6E-0FC6-ED63-F0FE-8011A4F22C09}"/>
              </a:ext>
            </a:extLst>
          </p:cNvPr>
          <p:cNvSpPr txBox="1"/>
          <p:nvPr/>
        </p:nvSpPr>
        <p:spPr>
          <a:xfrm>
            <a:off x="2799988" y="1532531"/>
            <a:ext cx="3462428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dirty="0">
                <a:solidFill>
                  <a:srgbClr val="55657A"/>
                </a:solidFill>
              </a:rPr>
              <a:t>Users can manage their medications, define intake windows, and update their treatment routine directly through the app.</a:t>
            </a:r>
            <a:endParaRPr sz="2400" b="0" dirty="0">
              <a:solidFill>
                <a:srgbClr val="55657A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498144-7FD9-7693-A730-66940E85C392}"/>
              </a:ext>
            </a:extLst>
          </p:cNvPr>
          <p:cNvSpPr/>
          <p:nvPr/>
        </p:nvSpPr>
        <p:spPr>
          <a:xfrm>
            <a:off x="2699530" y="3686281"/>
            <a:ext cx="3655550" cy="960120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E104881-49DC-E23D-4CE8-8E48A18682DF}"/>
              </a:ext>
            </a:extLst>
          </p:cNvPr>
          <p:cNvSpPr txBox="1"/>
          <p:nvPr/>
        </p:nvSpPr>
        <p:spPr>
          <a:xfrm>
            <a:off x="2799986" y="3759127"/>
            <a:ext cx="346242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Simple UI designed to support elderly users.</a:t>
            </a:r>
          </a:p>
        </p:txBody>
      </p:sp>
      <p:pic>
        <p:nvPicPr>
          <p:cNvPr id="11" name="תמונה 10">
            <a:extLst>
              <a:ext uri="{FF2B5EF4-FFF2-40B4-BE49-F238E27FC236}">
                <a16:creationId xmlns:a16="http://schemas.microsoft.com/office/drawing/2014/main" id="{B3B66A73-3FBA-74B8-AD08-2C405CF4C2C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86" b="7484"/>
          <a:stretch>
            <a:fillRect/>
          </a:stretch>
        </p:blipFill>
        <p:spPr>
          <a:xfrm>
            <a:off x="6521722" y="1216500"/>
            <a:ext cx="2764770" cy="5504340"/>
          </a:xfrm>
          <a:prstGeom prst="rect">
            <a:avLst/>
          </a:prstGeom>
        </p:spPr>
      </p:pic>
      <p:pic>
        <p:nvPicPr>
          <p:cNvPr id="13" name="תמונה 12">
            <a:extLst>
              <a:ext uri="{FF2B5EF4-FFF2-40B4-BE49-F238E27FC236}">
                <a16:creationId xmlns:a16="http://schemas.microsoft.com/office/drawing/2014/main" id="{E3122BBA-64D2-95D4-EDA9-B3A7242F76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45" b="14438"/>
          <a:stretch>
            <a:fillRect/>
          </a:stretch>
        </p:blipFill>
        <p:spPr>
          <a:xfrm>
            <a:off x="9388837" y="1216500"/>
            <a:ext cx="2518550" cy="4663963"/>
          </a:xfrm>
          <a:prstGeom prst="rect">
            <a:avLst/>
          </a:prstGeom>
        </p:spPr>
      </p:pic>
      <p:sp>
        <p:nvSpPr>
          <p:cNvPr id="16" name="Rectangle 17">
            <a:extLst>
              <a:ext uri="{FF2B5EF4-FFF2-40B4-BE49-F238E27FC236}">
                <a16:creationId xmlns:a16="http://schemas.microsoft.com/office/drawing/2014/main" id="{353615FC-D449-460B-4958-35018813B4E8}"/>
              </a:ext>
            </a:extLst>
          </p:cNvPr>
          <p:cNvSpPr/>
          <p:nvPr/>
        </p:nvSpPr>
        <p:spPr>
          <a:xfrm>
            <a:off x="108365" y="4866376"/>
            <a:ext cx="2423160" cy="1616305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7" name="TextBox 18">
            <a:extLst>
              <a:ext uri="{FF2B5EF4-FFF2-40B4-BE49-F238E27FC236}">
                <a16:creationId xmlns:a16="http://schemas.microsoft.com/office/drawing/2014/main" id="{2079A2D1-95D7-57AD-4E3E-EDAB347A4BD1}"/>
              </a:ext>
            </a:extLst>
          </p:cNvPr>
          <p:cNvSpPr txBox="1"/>
          <p:nvPr/>
        </p:nvSpPr>
        <p:spPr>
          <a:xfrm>
            <a:off x="183405" y="5205270"/>
            <a:ext cx="22774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Medication Setup</a:t>
            </a:r>
          </a:p>
        </p:txBody>
      </p:sp>
      <p:sp>
        <p:nvSpPr>
          <p:cNvPr id="21" name="Rectangle 8">
            <a:extLst>
              <a:ext uri="{FF2B5EF4-FFF2-40B4-BE49-F238E27FC236}">
                <a16:creationId xmlns:a16="http://schemas.microsoft.com/office/drawing/2014/main" id="{89F761ED-7DA5-FA12-5B2F-38E51E3D2F70}"/>
              </a:ext>
            </a:extLst>
          </p:cNvPr>
          <p:cNvSpPr/>
          <p:nvPr/>
        </p:nvSpPr>
        <p:spPr>
          <a:xfrm>
            <a:off x="2699529" y="4866377"/>
            <a:ext cx="3655549" cy="1616304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5" name="TextBox 19">
            <a:extLst>
              <a:ext uri="{FF2B5EF4-FFF2-40B4-BE49-F238E27FC236}">
                <a16:creationId xmlns:a16="http://schemas.microsoft.com/office/drawing/2014/main" id="{1D65897F-206D-94E5-7CAD-A3753F35CB55}"/>
              </a:ext>
            </a:extLst>
          </p:cNvPr>
          <p:cNvSpPr txBox="1"/>
          <p:nvPr/>
        </p:nvSpPr>
        <p:spPr>
          <a:xfrm>
            <a:off x="2799986" y="4913020"/>
            <a:ext cx="346242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Guide users through the process of loading medications into the smart pill box.</a:t>
            </a:r>
          </a:p>
        </p:txBody>
      </p:sp>
    </p:spTree>
    <p:extLst>
      <p:ext uri="{BB962C8B-B14F-4D97-AF65-F5344CB8AC3E}">
        <p14:creationId xmlns:p14="http://schemas.microsoft.com/office/powerpoint/2010/main" val="37531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8C07C-7AA7-9624-FFE0-D3A8AF24C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2CB773-EEB2-1313-C5A4-B8DA31A2754A}"/>
              </a:ext>
            </a:extLst>
          </p:cNvPr>
          <p:cNvSpPr txBox="1"/>
          <p:nvPr/>
        </p:nvSpPr>
        <p:spPr>
          <a:xfrm>
            <a:off x="365760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Domain — Mobile Application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1BD9E4-98A3-670D-0AA1-33E0D0267933}"/>
              </a:ext>
            </a:extLst>
          </p:cNvPr>
          <p:cNvSpPr txBox="1"/>
          <p:nvPr/>
        </p:nvSpPr>
        <p:spPr>
          <a:xfrm>
            <a:off x="365760" y="7498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Flutter + Dart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83CD05-4AFC-27A8-5772-64F647F2FEA8}"/>
              </a:ext>
            </a:extLst>
          </p:cNvPr>
          <p:cNvSpPr/>
          <p:nvPr/>
        </p:nvSpPr>
        <p:spPr>
          <a:xfrm>
            <a:off x="108365" y="1397609"/>
            <a:ext cx="2423160" cy="1982473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A0E70B4-400F-E40B-B403-3FB4AE9AFA04}"/>
              </a:ext>
            </a:extLst>
          </p:cNvPr>
          <p:cNvSpPr txBox="1"/>
          <p:nvPr/>
        </p:nvSpPr>
        <p:spPr>
          <a:xfrm>
            <a:off x="173120" y="1923628"/>
            <a:ext cx="227747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Notifications </a:t>
            </a:r>
            <a:br>
              <a:rPr lang="en-US" sz="2400" b="1" dirty="0">
                <a:solidFill>
                  <a:srgbClr val="FFFFFF"/>
                </a:solidFill>
              </a:rPr>
            </a:br>
            <a:r>
              <a:rPr lang="en-US" sz="2400" b="1" dirty="0">
                <a:solidFill>
                  <a:srgbClr val="FFFFFF"/>
                </a:solidFill>
              </a:rPr>
              <a:t>&amp; Reminders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9E183F5-FB30-CEC4-7B6B-498C5627AFDE}"/>
              </a:ext>
            </a:extLst>
          </p:cNvPr>
          <p:cNvSpPr/>
          <p:nvPr/>
        </p:nvSpPr>
        <p:spPr>
          <a:xfrm>
            <a:off x="108365" y="3532491"/>
            <a:ext cx="2424523" cy="1982763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AAB7AF2-84F1-7254-A467-005B53EBE59B}"/>
              </a:ext>
            </a:extLst>
          </p:cNvPr>
          <p:cNvSpPr txBox="1"/>
          <p:nvPr/>
        </p:nvSpPr>
        <p:spPr>
          <a:xfrm>
            <a:off x="182264" y="4219744"/>
            <a:ext cx="225993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Caregiver View</a:t>
            </a:r>
          </a:p>
        </p:txBody>
      </p:sp>
      <p:sp>
        <p:nvSpPr>
          <p:cNvPr id="2" name="Rectangle 8">
            <a:extLst>
              <a:ext uri="{FF2B5EF4-FFF2-40B4-BE49-F238E27FC236}">
                <a16:creationId xmlns:a16="http://schemas.microsoft.com/office/drawing/2014/main" id="{00B32D90-5576-20DA-A598-E27883AC71F0}"/>
              </a:ext>
            </a:extLst>
          </p:cNvPr>
          <p:cNvSpPr/>
          <p:nvPr/>
        </p:nvSpPr>
        <p:spPr>
          <a:xfrm>
            <a:off x="2699529" y="1397609"/>
            <a:ext cx="3472671" cy="1982474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DD5448-EBCE-658E-5E2B-8CA63D142D30}"/>
              </a:ext>
            </a:extLst>
          </p:cNvPr>
          <p:cNvSpPr txBox="1"/>
          <p:nvPr/>
        </p:nvSpPr>
        <p:spPr>
          <a:xfrm>
            <a:off x="2799988" y="1441091"/>
            <a:ext cx="329442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Users receive reminders when an intake window opens, with the option to approve medication intake or snooze.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93691B0-22FC-CF01-E26C-0F68AC2B59C2}"/>
              </a:ext>
            </a:extLst>
          </p:cNvPr>
          <p:cNvSpPr/>
          <p:nvPr/>
        </p:nvSpPr>
        <p:spPr>
          <a:xfrm>
            <a:off x="2699530" y="3532492"/>
            <a:ext cx="3472670" cy="1982474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4F9B8BE-A436-EB37-7E1B-F49F30EFE1C5}"/>
              </a:ext>
            </a:extLst>
          </p:cNvPr>
          <p:cNvSpPr txBox="1"/>
          <p:nvPr/>
        </p:nvSpPr>
        <p:spPr>
          <a:xfrm>
            <a:off x="2799989" y="3576263"/>
            <a:ext cx="329442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Caregivers can monitor medication intake status in real time and receive alerts for missed or incomplete intakes.</a:t>
            </a:r>
          </a:p>
        </p:txBody>
      </p:sp>
      <p:pic>
        <p:nvPicPr>
          <p:cNvPr id="15" name="תמונה 14">
            <a:extLst>
              <a:ext uri="{FF2B5EF4-FFF2-40B4-BE49-F238E27FC236}">
                <a16:creationId xmlns:a16="http://schemas.microsoft.com/office/drawing/2014/main" id="{12306375-D0CD-9637-9C16-3BD2FC9684A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4" t="72" r="2838" b="2600"/>
          <a:stretch>
            <a:fillRect/>
          </a:stretch>
        </p:blipFill>
        <p:spPr>
          <a:xfrm>
            <a:off x="9332106" y="1370176"/>
            <a:ext cx="2683599" cy="3357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13110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C27C46-B61F-73ED-6402-990643493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9A20F29-759E-1D66-85FF-19FD5370590F}"/>
              </a:ext>
            </a:extLst>
          </p:cNvPr>
          <p:cNvSpPr txBox="1"/>
          <p:nvPr/>
        </p:nvSpPr>
        <p:spPr>
          <a:xfrm>
            <a:off x="365760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 dirty="0">
                <a:solidFill>
                  <a:srgbClr val="FFFFFF"/>
                </a:solidFill>
              </a:rPr>
              <a:t>Domain — Backend Server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4BB168-15F5-8FFC-6534-9717273ED655}"/>
              </a:ext>
            </a:extLst>
          </p:cNvPr>
          <p:cNvSpPr txBox="1"/>
          <p:nvPr/>
        </p:nvSpPr>
        <p:spPr>
          <a:xfrm>
            <a:off x="365760" y="7498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Java 21 · Spring Boot 3.4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EABA55-0187-1E84-9DFC-DEF668D325C3}"/>
              </a:ext>
            </a:extLst>
          </p:cNvPr>
          <p:cNvSpPr/>
          <p:nvPr/>
        </p:nvSpPr>
        <p:spPr>
          <a:xfrm>
            <a:off x="217659" y="1367322"/>
            <a:ext cx="2112882" cy="914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7BA2B6-6C5F-49CA-8B98-CD7D0EB9B663}"/>
              </a:ext>
            </a:extLst>
          </p:cNvPr>
          <p:cNvSpPr txBox="1"/>
          <p:nvPr/>
        </p:nvSpPr>
        <p:spPr>
          <a:xfrm>
            <a:off x="287311" y="1553697"/>
            <a:ext cx="19733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Scheduling</a:t>
            </a:r>
            <a:endParaRPr sz="2400" b="1" dirty="0">
              <a:solidFill>
                <a:srgbClr val="FFFFFF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03EFEC4-0862-FF29-51D0-314DAA5B4401}"/>
              </a:ext>
            </a:extLst>
          </p:cNvPr>
          <p:cNvSpPr/>
          <p:nvPr/>
        </p:nvSpPr>
        <p:spPr>
          <a:xfrm>
            <a:off x="217659" y="2432625"/>
            <a:ext cx="2112882" cy="914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69102D-F0E9-353F-2498-CCD2C3BCA070}"/>
              </a:ext>
            </a:extLst>
          </p:cNvPr>
          <p:cNvSpPr txBox="1"/>
          <p:nvPr/>
        </p:nvSpPr>
        <p:spPr>
          <a:xfrm>
            <a:off x="278167" y="2507132"/>
            <a:ext cx="200081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Intake Management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08EE3FD-55DA-E044-6C52-3E498FEE1C09}"/>
              </a:ext>
            </a:extLst>
          </p:cNvPr>
          <p:cNvSpPr/>
          <p:nvPr/>
        </p:nvSpPr>
        <p:spPr>
          <a:xfrm>
            <a:off x="217659" y="3511183"/>
            <a:ext cx="2112882" cy="914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6665755-4857-5E01-2010-BAC963C78094}"/>
              </a:ext>
            </a:extLst>
          </p:cNvPr>
          <p:cNvSpPr txBox="1"/>
          <p:nvPr/>
        </p:nvSpPr>
        <p:spPr>
          <a:xfrm>
            <a:off x="269023" y="3559453"/>
            <a:ext cx="201910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Data Management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23372236-78A9-CFEF-56B1-8B4DAD99644A}"/>
              </a:ext>
            </a:extLst>
          </p:cNvPr>
          <p:cNvSpPr/>
          <p:nvPr/>
        </p:nvSpPr>
        <p:spPr>
          <a:xfrm>
            <a:off x="217659" y="4589741"/>
            <a:ext cx="2112882" cy="91440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B509DE1-86BB-B09B-9783-DFAE026EFB05}"/>
              </a:ext>
            </a:extLst>
          </p:cNvPr>
          <p:cNvSpPr txBox="1"/>
          <p:nvPr/>
        </p:nvSpPr>
        <p:spPr>
          <a:xfrm>
            <a:off x="269023" y="4634281"/>
            <a:ext cx="200551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FFFF"/>
                </a:solidFill>
              </a:rPr>
              <a:t>Missed intake detection</a:t>
            </a:r>
          </a:p>
        </p:txBody>
      </p:sp>
      <p:sp>
        <p:nvSpPr>
          <p:cNvPr id="2" name="Rectangle 8">
            <a:extLst>
              <a:ext uri="{FF2B5EF4-FFF2-40B4-BE49-F238E27FC236}">
                <a16:creationId xmlns:a16="http://schemas.microsoft.com/office/drawing/2014/main" id="{316AD6AF-BF04-9F8A-6E86-FB32752836A8}"/>
              </a:ext>
            </a:extLst>
          </p:cNvPr>
          <p:cNvSpPr/>
          <p:nvPr/>
        </p:nvSpPr>
        <p:spPr>
          <a:xfrm>
            <a:off x="2436963" y="1361566"/>
            <a:ext cx="4786797" cy="914400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275197-BD16-0C6C-D402-45CE9602105C}"/>
              </a:ext>
            </a:extLst>
          </p:cNvPr>
          <p:cNvSpPr txBox="1"/>
          <p:nvPr/>
        </p:nvSpPr>
        <p:spPr>
          <a:xfrm>
            <a:off x="2464395" y="1403483"/>
            <a:ext cx="4695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dirty="0">
                <a:solidFill>
                  <a:srgbClr val="55657A"/>
                </a:solidFill>
              </a:rPr>
              <a:t>Handles intake-related events based on predefined schedules.</a:t>
            </a:r>
            <a:endParaRPr sz="2400" b="0" dirty="0">
              <a:solidFill>
                <a:srgbClr val="55657A"/>
              </a:solidFill>
            </a:endParaRPr>
          </a:p>
        </p:txBody>
      </p:sp>
      <p:sp>
        <p:nvSpPr>
          <p:cNvPr id="3" name="Rectangle 8">
            <a:extLst>
              <a:ext uri="{FF2B5EF4-FFF2-40B4-BE49-F238E27FC236}">
                <a16:creationId xmlns:a16="http://schemas.microsoft.com/office/drawing/2014/main" id="{B640C8A2-5513-E213-003C-B394B7C8E9C2}"/>
              </a:ext>
            </a:extLst>
          </p:cNvPr>
          <p:cNvSpPr/>
          <p:nvPr/>
        </p:nvSpPr>
        <p:spPr>
          <a:xfrm>
            <a:off x="2436963" y="2432625"/>
            <a:ext cx="4786797" cy="914400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C1896FB-284C-80D4-2EF5-F827627F0C07}"/>
              </a:ext>
            </a:extLst>
          </p:cNvPr>
          <p:cNvSpPr txBox="1"/>
          <p:nvPr/>
        </p:nvSpPr>
        <p:spPr>
          <a:xfrm>
            <a:off x="2464395" y="2458765"/>
            <a:ext cx="4695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Manage the intake status lifecycle: </a:t>
            </a:r>
          </a:p>
          <a:p>
            <a:r>
              <a:rPr lang="en-US" sz="2400" dirty="0">
                <a:solidFill>
                  <a:srgbClr val="55657A"/>
                </a:solidFill>
              </a:rPr>
              <a:t>PENDING → APPROVED → TAKEN.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04054F-4E4D-8B2E-7767-9C3B649CC05C}"/>
              </a:ext>
            </a:extLst>
          </p:cNvPr>
          <p:cNvSpPr/>
          <p:nvPr/>
        </p:nvSpPr>
        <p:spPr>
          <a:xfrm>
            <a:off x="2436963" y="3513833"/>
            <a:ext cx="4786797" cy="914400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01172F-58C3-6D97-0429-7E72D41284BA}"/>
              </a:ext>
            </a:extLst>
          </p:cNvPr>
          <p:cNvSpPr txBox="1"/>
          <p:nvPr/>
        </p:nvSpPr>
        <p:spPr>
          <a:xfrm>
            <a:off x="2455251" y="3510030"/>
            <a:ext cx="47045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Handles communication with the database.</a:t>
            </a:r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72528A92-A5A7-FAEB-C797-8BC28A917093}"/>
              </a:ext>
            </a:extLst>
          </p:cNvPr>
          <p:cNvSpPr/>
          <p:nvPr/>
        </p:nvSpPr>
        <p:spPr>
          <a:xfrm>
            <a:off x="2436963" y="4589741"/>
            <a:ext cx="4786797" cy="914400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8CB4BB2-45A3-A2D9-308C-6EF0B62B119C}"/>
              </a:ext>
            </a:extLst>
          </p:cNvPr>
          <p:cNvSpPr txBox="1"/>
          <p:nvPr/>
        </p:nvSpPr>
        <p:spPr>
          <a:xfrm>
            <a:off x="2464395" y="4634281"/>
            <a:ext cx="4695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55657A"/>
                </a:solidFill>
              </a:rPr>
              <a:t>Detects missed medication intake and sends alerts to caregivers.</a:t>
            </a:r>
          </a:p>
        </p:txBody>
      </p:sp>
      <p:pic>
        <p:nvPicPr>
          <p:cNvPr id="11" name="תמונה 10">
            <a:extLst>
              <a:ext uri="{FF2B5EF4-FFF2-40B4-BE49-F238E27FC236}">
                <a16:creationId xmlns:a16="http://schemas.microsoft.com/office/drawing/2014/main" id="{79EA02E1-E1A3-016C-4DC6-255303BB9F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98"/>
          <a:stretch>
            <a:fillRect/>
          </a:stretch>
        </p:blipFill>
        <p:spPr>
          <a:xfrm>
            <a:off x="8775033" y="3180141"/>
            <a:ext cx="2682399" cy="3531555"/>
          </a:xfrm>
          <a:prstGeom prst="rect">
            <a:avLst/>
          </a:prstGeom>
        </p:spPr>
      </p:pic>
      <p:sp>
        <p:nvSpPr>
          <p:cNvPr id="12" name="Rectangle 5">
            <a:extLst>
              <a:ext uri="{FF2B5EF4-FFF2-40B4-BE49-F238E27FC236}">
                <a16:creationId xmlns:a16="http://schemas.microsoft.com/office/drawing/2014/main" id="{CB1E13D5-87BF-D780-0FD5-FAF91DC45C58}"/>
              </a:ext>
            </a:extLst>
          </p:cNvPr>
          <p:cNvSpPr/>
          <p:nvPr/>
        </p:nvSpPr>
        <p:spPr>
          <a:xfrm>
            <a:off x="8775033" y="1361192"/>
            <a:ext cx="2600103" cy="422075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6">
            <a:extLst>
              <a:ext uri="{FF2B5EF4-FFF2-40B4-BE49-F238E27FC236}">
                <a16:creationId xmlns:a16="http://schemas.microsoft.com/office/drawing/2014/main" id="{8D2AAF90-188C-63F1-A65D-3C4ACEB25BFF}"/>
              </a:ext>
            </a:extLst>
          </p:cNvPr>
          <p:cNvSpPr txBox="1"/>
          <p:nvPr/>
        </p:nvSpPr>
        <p:spPr>
          <a:xfrm>
            <a:off x="8802465" y="1321602"/>
            <a:ext cx="25635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FFFFFF"/>
                </a:solidFill>
              </a:rPr>
              <a:t>Modules Structure</a:t>
            </a:r>
          </a:p>
        </p:txBody>
      </p:sp>
      <p:sp>
        <p:nvSpPr>
          <p:cNvPr id="14" name="Rectangle 8">
            <a:extLst>
              <a:ext uri="{FF2B5EF4-FFF2-40B4-BE49-F238E27FC236}">
                <a16:creationId xmlns:a16="http://schemas.microsoft.com/office/drawing/2014/main" id="{3BE2C886-74C7-622E-C4B2-86CC9C3AAB34}"/>
              </a:ext>
            </a:extLst>
          </p:cNvPr>
          <p:cNvSpPr/>
          <p:nvPr/>
        </p:nvSpPr>
        <p:spPr>
          <a:xfrm>
            <a:off x="7626095" y="1870258"/>
            <a:ext cx="4489705" cy="1236905"/>
          </a:xfrm>
          <a:prstGeom prst="rect">
            <a:avLst/>
          </a:prstGeom>
          <a:solidFill>
            <a:srgbClr val="FFFFFF"/>
          </a:solidFill>
          <a:ln>
            <a:solidFill>
              <a:srgbClr val="CCD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200" dirty="0"/>
          </a:p>
        </p:txBody>
      </p:sp>
      <p:sp>
        <p:nvSpPr>
          <p:cNvPr id="15" name="TextBox 27">
            <a:extLst>
              <a:ext uri="{FF2B5EF4-FFF2-40B4-BE49-F238E27FC236}">
                <a16:creationId xmlns:a16="http://schemas.microsoft.com/office/drawing/2014/main" id="{4374F646-51E7-74DD-EB9A-C99B3C47B1E7}"/>
              </a:ext>
            </a:extLst>
          </p:cNvPr>
          <p:cNvSpPr txBox="1"/>
          <p:nvPr/>
        </p:nvSpPr>
        <p:spPr>
          <a:xfrm>
            <a:off x="7626096" y="1897690"/>
            <a:ext cx="448970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7160" indent="-13716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55657A"/>
                </a:solidFill>
              </a:rPr>
              <a:t>app - Entry point.</a:t>
            </a:r>
          </a:p>
          <a:p>
            <a:pPr marL="137160" indent="-13716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55657A"/>
                </a:solidFill>
              </a:rPr>
              <a:t>api - REST controllers, services.</a:t>
            </a:r>
          </a:p>
          <a:p>
            <a:pPr marL="137160" indent="-13716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55657A"/>
                </a:solidFill>
              </a:rPr>
              <a:t>Domain - Business logic, schedulers, models.</a:t>
            </a:r>
          </a:p>
          <a:p>
            <a:pPr marL="137160" indent="-137160">
              <a:buSzPct val="100000"/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55657A"/>
                </a:solidFill>
              </a:rPr>
              <a:t>data - DB communication and access. </a:t>
            </a:r>
          </a:p>
        </p:txBody>
      </p:sp>
    </p:spTree>
    <p:extLst>
      <p:ext uri="{BB962C8B-B14F-4D97-AF65-F5344CB8AC3E}">
        <p14:creationId xmlns:p14="http://schemas.microsoft.com/office/powerpoint/2010/main" val="2175444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Domain —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49808"/>
            <a:ext cx="109728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2926080" cy="7772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300" b="1">
                <a:solidFill>
                  <a:srgbClr val="FFFFFF"/>
                </a:solidFill>
              </a:defRPr>
            </a:lvl1pPr>
          </a:lstStyle>
          <a:p>
            <a:r>
              <a:rPr sz="1400" dirty="0"/>
              <a:t>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40" y="1618488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657A"/>
                </a:solidFill>
              </a:rPr>
              <a:t>User profiles, roles (PATIENT / CAREGIVER), authentication data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377440"/>
            <a:ext cx="2926080" cy="7772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b="1">
                <a:solidFill>
                  <a:srgbClr val="FFFFFF"/>
                </a:solidFill>
              </a:defRPr>
            </a:lvl1pPr>
          </a:lstStyle>
          <a:p>
            <a:r>
              <a:rPr sz="1400" dirty="0"/>
              <a:t>medications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578608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657A"/>
                </a:solidFill>
              </a:rPr>
              <a:t>Medication name, timing window, dosage, pre-intake reminder rules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37560"/>
            <a:ext cx="2926080" cy="7772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3520440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b="1">
                <a:solidFill>
                  <a:srgbClr val="FFFFFF"/>
                </a:solidFill>
              </a:defRPr>
            </a:lvl1pPr>
          </a:lstStyle>
          <a:p>
            <a:r>
              <a:rPr sz="1400" dirty="0"/>
              <a:t>intakes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538728"/>
            <a:ext cx="83210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55657A"/>
                </a:solidFill>
              </a:rPr>
              <a:t>One record per timing window per day </a:t>
            </a:r>
            <a:r>
              <a:rPr lang="en-US" sz="1500" b="0" dirty="0">
                <a:solidFill>
                  <a:srgbClr val="55657A"/>
                </a:solidFill>
              </a:rPr>
              <a:t>-</a:t>
            </a:r>
            <a:r>
              <a:rPr sz="1500" b="0" dirty="0">
                <a:solidFill>
                  <a:srgbClr val="55657A"/>
                </a:solidFill>
              </a:rPr>
              <a:t> tracks approval, release, and 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97680"/>
            <a:ext cx="2926080" cy="7772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4480560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z="1400" dirty="0"/>
              <a:t>c</a:t>
            </a:r>
            <a:r>
              <a:rPr sz="1400" dirty="0"/>
              <a:t>aregiver</a:t>
            </a:r>
            <a:r>
              <a:rPr lang="he-IL" sz="1400" dirty="0"/>
              <a:t>_</a:t>
            </a:r>
            <a:r>
              <a:rPr sz="1400" dirty="0"/>
              <a:t>links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498848"/>
            <a:ext cx="832104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dirty="0">
                <a:solidFill>
                  <a:srgbClr val="55657A"/>
                </a:solidFill>
              </a:rPr>
              <a:t>Patien</a:t>
            </a:r>
            <a:r>
              <a:rPr lang="en-US" sz="1500" b="0" dirty="0">
                <a:solidFill>
                  <a:srgbClr val="55657A"/>
                </a:solidFill>
              </a:rPr>
              <a:t>t</a:t>
            </a:r>
            <a:r>
              <a:rPr lang="en-US" sz="1500" dirty="0">
                <a:solidFill>
                  <a:srgbClr val="55657A"/>
                </a:solidFill>
              </a:rPr>
              <a:t>-</a:t>
            </a:r>
            <a:r>
              <a:rPr sz="1500" b="0" dirty="0">
                <a:solidFill>
                  <a:srgbClr val="55657A"/>
                </a:solidFill>
              </a:rPr>
              <a:t>caregiver associations and alert preferences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257800"/>
            <a:ext cx="2926080" cy="777240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5440680"/>
            <a:ext cx="27432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b="1">
                <a:solidFill>
                  <a:srgbClr val="FFFFFF"/>
                </a:solidFill>
              </a:defRPr>
            </a:lvl1pPr>
          </a:lstStyle>
          <a:p>
            <a:r>
              <a:rPr lang="en-US" sz="1400" dirty="0"/>
              <a:t>n</a:t>
            </a:r>
            <a:r>
              <a:rPr sz="1400" dirty="0"/>
              <a:t>otification</a:t>
            </a:r>
            <a:r>
              <a:rPr lang="he-IL" sz="1400" dirty="0"/>
              <a:t>_</a:t>
            </a:r>
            <a:r>
              <a:rPr sz="1400" dirty="0"/>
              <a:t>logs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0440" y="5458968"/>
            <a:ext cx="8321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657A"/>
                </a:solidFill>
              </a:rPr>
              <a:t>History of all notifications and alerts sent by the system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Current Project Status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25880"/>
            <a:ext cx="2743200" cy="34747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34416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Completed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36192"/>
            <a:ext cx="11247120" cy="3259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Clr>
                <a:srgbClr val="34A853"/>
              </a:buClr>
              <a:buSzPct val="120000"/>
              <a:buFont typeface="Wingdings" panose="05000000000000000000" pitchFamily="2" charset="2"/>
              <a:buChar char="ü"/>
            </a:pPr>
            <a:r>
              <a:rPr lang="en-US" sz="1500" dirty="0">
                <a:solidFill>
                  <a:srgbClr val="34A853"/>
                </a:solidFill>
              </a:rPr>
              <a:t>Patient app – register medications, schedule with intake window status, intake notification with approve or snooze options.</a:t>
            </a:r>
          </a:p>
          <a:p>
            <a:pPr marL="285750" indent="-285750">
              <a:lnSpc>
                <a:spcPct val="200000"/>
              </a:lnSpc>
              <a:buClr>
                <a:srgbClr val="34A853"/>
              </a:buClr>
              <a:buSzPct val="120000"/>
              <a:buFont typeface="Wingdings" panose="05000000000000000000" pitchFamily="2" charset="2"/>
              <a:buChar char="ü"/>
            </a:pPr>
            <a:r>
              <a:rPr lang="en-US" sz="1500" dirty="0">
                <a:solidFill>
                  <a:srgbClr val="34A853"/>
                </a:solidFill>
              </a:rPr>
              <a:t>Caregiver screen – intake schedule and daily status overview.</a:t>
            </a:r>
          </a:p>
          <a:p>
            <a:pPr marL="285750" indent="-285750">
              <a:lnSpc>
                <a:spcPct val="200000"/>
              </a:lnSpc>
              <a:buClr>
                <a:srgbClr val="34A853"/>
              </a:buClr>
              <a:buSzPct val="120000"/>
              <a:buFont typeface="Wingdings" panose="05000000000000000000" pitchFamily="2" charset="2"/>
              <a:buChar char="ü"/>
            </a:pPr>
            <a:r>
              <a:rPr lang="en-US" sz="1500" dirty="0">
                <a:solidFill>
                  <a:srgbClr val="34A853"/>
                </a:solidFill>
              </a:rPr>
              <a:t>Backend core - implement medication management, intake tracking, user and caregiver notifications and persistent DB storage.</a:t>
            </a:r>
          </a:p>
          <a:p>
            <a:pPr marL="285750" indent="-285750">
              <a:lnSpc>
                <a:spcPct val="200000"/>
              </a:lnSpc>
              <a:buClr>
                <a:srgbClr val="34A853"/>
              </a:buClr>
              <a:buSzPct val="120000"/>
              <a:buFont typeface="Wingdings" panose="05000000000000000000" pitchFamily="2" charset="2"/>
              <a:buChar char="ü"/>
            </a:pPr>
            <a:r>
              <a:rPr lang="en-US" sz="1500" dirty="0">
                <a:solidFill>
                  <a:srgbClr val="34A853"/>
                </a:solidFill>
              </a:rPr>
              <a:t>Automatic scheduling - Morning 08:00, Noon 13:00, Evening 20:00, and postpone an intake window.</a:t>
            </a:r>
          </a:p>
          <a:p>
            <a:pPr marL="285750" indent="-285750">
              <a:lnSpc>
                <a:spcPct val="200000"/>
              </a:lnSpc>
              <a:buClr>
                <a:srgbClr val="34A853"/>
              </a:buClr>
              <a:buSzPct val="120000"/>
              <a:buFont typeface="Wingdings" panose="05000000000000000000" pitchFamily="2" charset="2"/>
              <a:buChar char="ü"/>
            </a:pPr>
            <a:r>
              <a:rPr lang="en-US" sz="1500" dirty="0">
                <a:solidFill>
                  <a:srgbClr val="34A853"/>
                </a:solidFill>
              </a:rPr>
              <a:t>Arduino device - Wi-Fi communication, listen and response to API requests.</a:t>
            </a:r>
          </a:p>
          <a:p>
            <a:pPr marL="285750" indent="-285750">
              <a:lnSpc>
                <a:spcPct val="200000"/>
              </a:lnSpc>
              <a:buClr>
                <a:srgbClr val="34A853"/>
              </a:buClr>
              <a:buSzPct val="120000"/>
              <a:buFont typeface="Wingdings" panose="05000000000000000000" pitchFamily="2" charset="2"/>
              <a:buChar char="ü"/>
            </a:pPr>
            <a:r>
              <a:rPr lang="en-US" sz="1500" dirty="0">
                <a:solidFill>
                  <a:srgbClr val="34A853"/>
                </a:solidFill>
              </a:rPr>
              <a:t>Arduino device - app-controlled medication dispensing.</a:t>
            </a:r>
          </a:p>
          <a:p>
            <a:pPr marL="285750" indent="-285750">
              <a:lnSpc>
                <a:spcPct val="200000"/>
              </a:lnSpc>
              <a:buClr>
                <a:srgbClr val="34A853"/>
              </a:buClr>
              <a:buSzPct val="120000"/>
              <a:buFont typeface="Wingdings" panose="05000000000000000000" pitchFamily="2" charset="2"/>
              <a:buChar char="ü"/>
            </a:pPr>
            <a:r>
              <a:rPr lang="en-US" sz="1500" dirty="0">
                <a:solidFill>
                  <a:srgbClr val="34A853"/>
                </a:solidFill>
              </a:rPr>
              <a:t> PostgreSQL - database integration and schema management.</a:t>
            </a:r>
            <a:endParaRPr sz="1500" b="0" dirty="0">
              <a:solidFill>
                <a:srgbClr val="34A853"/>
              </a:solidFill>
            </a:endParaRPr>
          </a:p>
        </p:txBody>
      </p:sp>
      <p:sp>
        <p:nvSpPr>
          <p:cNvPr id="18" name="Rectangle 4">
            <a:extLst>
              <a:ext uri="{FF2B5EF4-FFF2-40B4-BE49-F238E27FC236}">
                <a16:creationId xmlns:a16="http://schemas.microsoft.com/office/drawing/2014/main" id="{EA4A0081-2BBF-D9B5-A88C-F0E179ED096C}"/>
              </a:ext>
            </a:extLst>
          </p:cNvPr>
          <p:cNvSpPr/>
          <p:nvPr/>
        </p:nvSpPr>
        <p:spPr>
          <a:xfrm>
            <a:off x="365760" y="4995297"/>
            <a:ext cx="2743200" cy="347472"/>
          </a:xfrm>
          <a:prstGeom prst="rect">
            <a:avLst/>
          </a:prstGeom>
          <a:solidFill>
            <a:srgbClr val="1A7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5">
            <a:extLst>
              <a:ext uri="{FF2B5EF4-FFF2-40B4-BE49-F238E27FC236}">
                <a16:creationId xmlns:a16="http://schemas.microsoft.com/office/drawing/2014/main" id="{D23E5480-A5E0-8FED-08FB-0EA3EED029F4}"/>
              </a:ext>
            </a:extLst>
          </p:cNvPr>
          <p:cNvSpPr txBox="1"/>
          <p:nvPr/>
        </p:nvSpPr>
        <p:spPr>
          <a:xfrm>
            <a:off x="457200" y="5013585"/>
            <a:ext cx="265176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300" b="1" dirty="0">
                <a:solidFill>
                  <a:srgbClr val="FFFFFF"/>
                </a:solidFill>
              </a:rPr>
              <a:t>Planned</a:t>
            </a:r>
            <a:endParaRPr sz="1300" b="1" dirty="0">
              <a:solidFill>
                <a:srgbClr val="FFFFFF"/>
              </a:solidFill>
            </a:endParaRPr>
          </a:p>
        </p:txBody>
      </p:sp>
      <p:sp>
        <p:nvSpPr>
          <p:cNvPr id="20" name="TextBox 6">
            <a:extLst>
              <a:ext uri="{FF2B5EF4-FFF2-40B4-BE49-F238E27FC236}">
                <a16:creationId xmlns:a16="http://schemas.microsoft.com/office/drawing/2014/main" id="{135A29F6-5CCE-97CA-513B-553160825D90}"/>
              </a:ext>
            </a:extLst>
          </p:cNvPr>
          <p:cNvSpPr txBox="1"/>
          <p:nvPr/>
        </p:nvSpPr>
        <p:spPr>
          <a:xfrm>
            <a:off x="457200" y="5324481"/>
            <a:ext cx="11247120" cy="1441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Arduino device - detecting missed medication intake.</a:t>
            </a:r>
          </a:p>
          <a:p>
            <a:pPr marL="285750" indent="-285750">
              <a:lnSpc>
                <a:spcPct val="150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 Pill insertion flow - developing the process of inserting medications through the mobile application.</a:t>
            </a:r>
          </a:p>
          <a:p>
            <a:pPr marL="285750" indent="-285750">
              <a:lnSpc>
                <a:spcPct val="150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Implementation of pre intake notifications.</a:t>
            </a:r>
          </a:p>
          <a:p>
            <a:pPr marL="285750" indent="-285750">
              <a:lnSpc>
                <a:spcPct val="150000"/>
              </a:lnSpc>
              <a:buSzPct val="100000"/>
              <a:buFont typeface="Courier New" panose="02070309020205020404" pitchFamily="49" charset="0"/>
              <a:buChar char="o"/>
            </a:pPr>
            <a:r>
              <a:rPr lang="en-US" sz="15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Multi-user support  - extending the system to support multiple users and caregivers simultaneously.</a:t>
            </a:r>
            <a:endParaRPr sz="1500" b="0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65760" y="13716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AI Usage in Development</a:t>
            </a:r>
          </a:p>
        </p:txBody>
      </p:sp>
      <p:sp>
        <p:nvSpPr>
          <p:cNvPr id="21" name="TextBox 7">
            <a:extLst>
              <a:ext uri="{FF2B5EF4-FFF2-40B4-BE49-F238E27FC236}">
                <a16:creationId xmlns:a16="http://schemas.microsoft.com/office/drawing/2014/main" id="{7D06F3E2-B2FB-9B66-AF9C-5E6389B0A504}"/>
              </a:ext>
            </a:extLst>
          </p:cNvPr>
          <p:cNvSpPr txBox="1"/>
          <p:nvPr/>
        </p:nvSpPr>
        <p:spPr>
          <a:xfrm>
            <a:off x="548576" y="1362456"/>
            <a:ext cx="11091672" cy="14126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SzPct val="130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E1E2E"/>
                </a:solidFill>
              </a:rPr>
              <a:t>Lovable - used for visual planning and prototyping of the frontend screens before implementing them in Flutter.</a:t>
            </a:r>
          </a:p>
          <a:p>
            <a:pPr marL="285750" indent="-285750">
              <a:lnSpc>
                <a:spcPct val="200000"/>
              </a:lnSpc>
              <a:buSzPct val="130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E1E2E"/>
                </a:solidFill>
              </a:rPr>
              <a:t>Claude Code - used for code generation, architecture discussions, debugging assistance, and project documentation.</a:t>
            </a:r>
          </a:p>
          <a:p>
            <a:pPr marL="285750" indent="-285750">
              <a:lnSpc>
                <a:spcPct val="200000"/>
              </a:lnSpc>
              <a:buSzPct val="130000"/>
              <a:buFont typeface="Arial" panose="020B0604020202020204" pitchFamily="34" charset="0"/>
              <a:buChar char="•"/>
            </a:pPr>
            <a:r>
              <a:rPr lang="en-US" sz="1500" dirty="0">
                <a:solidFill>
                  <a:srgbClr val="1E1E2E"/>
                </a:solidFill>
              </a:rPr>
              <a:t>ChatGPT - used for document phrasing and assistance with planning the 3D printing components and OpenSCAD logic.</a:t>
            </a:r>
            <a:endParaRPr lang="en-US" sz="1500" b="0" dirty="0">
              <a:solidFill>
                <a:srgbClr val="1E1E2E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extBox 100"/>
          <p:cNvSpPr txBox="1"/>
          <p:nvPr/>
        </p:nvSpPr>
        <p:spPr>
          <a:xfrm>
            <a:off x="365760" y="137160"/>
            <a:ext cx="9144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 dirty="0">
                <a:solidFill>
                  <a:srgbClr val="FFFFFF"/>
                </a:solidFill>
              </a:rPr>
              <a:t>System Demo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365760" y="749808"/>
            <a:ext cx="109728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See Medify in action</a:t>
            </a:r>
          </a:p>
        </p:txBody>
      </p:sp>
      <p:sp>
        <p:nvSpPr>
          <p:cNvPr id="3" name="rect"/>
          <p:cNvSpPr>
            <a:spLocks noGrp="1"/>
          </p:cNvSpPr>
          <p:nvPr/>
        </p:nvSpPr>
        <p:spPr>
          <a:xfrm>
            <a:off x="1094400" y="1400000"/>
            <a:ext cx="10000025" cy="5058000"/>
          </a:xfrm>
          <a:prstGeom prst="rect">
            <a:avLst/>
          </a:prstGeom>
          <a:solidFill>
            <a:srgbClr val="D0D8E8"/>
          </a:solidFill>
          <a:ln>
            <a:solidFill>
              <a:srgbClr val="CCDDEE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1094400" y="3429000"/>
            <a:ext cx="1000002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0" i="0">
                <a:solidFill>
                  <a:srgbClr val="8899BB"/>
                </a:solidFill>
              </a:rPr>
              <a:t>▶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94400" y="4229000"/>
            <a:ext cx="100000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8899BB"/>
                </a:solidFill>
              </a:rPr>
              <a:t>Video coming soon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יצוב מותאם אישית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</TotalTime>
  <Words>900</Words>
  <Application>Microsoft Office PowerPoint</Application>
  <PresentationFormat>מותאם אישית</PresentationFormat>
  <Paragraphs>126</Paragraphs>
  <Slides>14</Slides>
  <Notes>3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5</vt:i4>
      </vt:variant>
      <vt:variant>
        <vt:lpstr>ערכת נושא</vt:lpstr>
      </vt:variant>
      <vt:variant>
        <vt:i4>2</vt:i4>
      </vt:variant>
      <vt:variant>
        <vt:lpstr>כותרות שקופיות</vt:lpstr>
      </vt:variant>
      <vt:variant>
        <vt:i4>14</vt:i4>
      </vt:variant>
    </vt:vector>
  </HeadingPairs>
  <TitlesOfParts>
    <vt:vector size="21" baseType="lpstr">
      <vt:lpstr>Aptos</vt:lpstr>
      <vt:lpstr>Arial</vt:lpstr>
      <vt:lpstr>Calibri</vt:lpstr>
      <vt:lpstr>Courier New</vt:lpstr>
      <vt:lpstr>Wingdings</vt:lpstr>
      <vt:lpstr>Office Theme</vt:lpstr>
      <vt:lpstr>עיצוב מותאם אישית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roy tomer</dc:creator>
  <cp:keywords/>
  <dc:description>generated using python-pptx</dc:description>
  <cp:lastModifiedBy>Netta Spivak</cp:lastModifiedBy>
  <cp:revision>14</cp:revision>
  <dcterms:created xsi:type="dcterms:W3CDTF">2013-01-27T09:14:16Z</dcterms:created>
  <dcterms:modified xsi:type="dcterms:W3CDTF">2026-06-02T18:11:11Z</dcterms:modified>
  <cp:category/>
</cp:coreProperties>
</file>